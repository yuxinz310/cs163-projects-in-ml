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3" r:id="rId5"/>
    <p:sldMasterId id="2147483674" r:id="rId6"/>
    <p:sldMasterId id="2147483675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</p:sldIdLst>
  <p:sldSz cy="5143500" cx="9144000"/>
  <p:notesSz cx="6858000" cy="9144000"/>
  <p:embeddedFontLst>
    <p:embeddedFont>
      <p:font typeface="Roboto Mono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24481DE-C3F7-4C88-B07E-3593388C2449}">
  <a:tblStyle styleId="{024481DE-C3F7-4C88-B07E-3593388C244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ACB0F00A-6859-48FD-9947-20424EC80FB2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1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11" Type="http://schemas.openxmlformats.org/officeDocument/2006/relationships/slide" Target="slides/slide3.xml"/><Relationship Id="rId33" Type="http://schemas.openxmlformats.org/officeDocument/2006/relationships/slide" Target="slides/slide25.xml"/><Relationship Id="rId10" Type="http://schemas.openxmlformats.org/officeDocument/2006/relationships/slide" Target="slides/slide2.xml"/><Relationship Id="rId32" Type="http://schemas.openxmlformats.org/officeDocument/2006/relationships/slide" Target="slides/slide24.xml"/><Relationship Id="rId13" Type="http://schemas.openxmlformats.org/officeDocument/2006/relationships/slide" Target="slides/slide5.xml"/><Relationship Id="rId35" Type="http://schemas.openxmlformats.org/officeDocument/2006/relationships/font" Target="fonts/RobotoMono-regular.fntdata"/><Relationship Id="rId12" Type="http://schemas.openxmlformats.org/officeDocument/2006/relationships/slide" Target="slides/slide4.xml"/><Relationship Id="rId34" Type="http://schemas.openxmlformats.org/officeDocument/2006/relationships/slide" Target="slides/slide26.xml"/><Relationship Id="rId15" Type="http://schemas.openxmlformats.org/officeDocument/2006/relationships/slide" Target="slides/slide7.xml"/><Relationship Id="rId37" Type="http://schemas.openxmlformats.org/officeDocument/2006/relationships/font" Target="fonts/RobotoMono-italic.fntdata"/><Relationship Id="rId14" Type="http://schemas.openxmlformats.org/officeDocument/2006/relationships/slide" Target="slides/slide6.xml"/><Relationship Id="rId36" Type="http://schemas.openxmlformats.org/officeDocument/2006/relationships/font" Target="fonts/RobotoMono-bold.fntdata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38" Type="http://schemas.openxmlformats.org/officeDocument/2006/relationships/font" Target="fonts/RobotoMono-boldItalic.fntdata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h15c52c90568c0bc8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h15c52c90568c0bc8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h15c52c90568c0bc8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h15c52c90568c0bc8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h6b4c1881950dcf5a_5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h6b4c1881950dcf5a_5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h6b4c1881950dcf5a_5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h6b4c1881950dcf5a_5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h15c52c90568c0bc8_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h15c52c90568c0bc8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h6b4c1881950dcf5a_5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h6b4c1881950dcf5a_5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h6b4c1881950dcf5a_5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h6b4c1881950dcf5a_5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h6b4c1881950dcf5a_5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h6b4c1881950dcf5a_5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h6b4c1881950dcf5a_5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h6b4c1881950dcf5a_5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h6b4c1881950dcf5a_5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h6b4c1881950dcf5a_5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h15c52c90568c0bc8_2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h15c52c90568c0bc8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h45e0483f486c5258_2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h45e0483f486c5258_2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h45e0483f486c5258_2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h45e0483f486c5258_2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h45e0483f486c5258_2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h45e0483f486c5258_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h45e0483f486c5258_2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h45e0483f486c5258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h8beb48025c9fe4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h8beb48025c9fe4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h4918e374b645e15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h4918e374b645e15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h6b4c1881950dcf5a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h6b4c1881950dcf5a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h6b4c1881950dcf5a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h6b4c1881950dcf5a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h6b4c1881950dcf5a_2_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5" name="Google Shape;265;h6b4c1881950dcf5a_2_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6" name="Google Shape;266;h6b4c1881950dcf5a_2_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h6b4c1881950dcf5a_2_4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9" name="Google Shape;289;h6b4c1881950dcf5a_2_4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0" name="Google Shape;290;h6b4c1881950dcf5a_2_4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h6b4c1881950dcf5a_2_7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9" name="Google Shape;319;h6b4c1881950dcf5a_2_7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0" name="Google Shape;320;h6b4c1881950dcf5a_2_7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h165f56c75514c921_4_5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8" name="Google Shape;338;h165f56c75514c921_4_5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h165f56c75514c921_4_5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h8beb48025c9fe48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h8beb48025c9fe48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h699a86b9f25d0dda_49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h699a86b9f25d0dda_49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5"/>
          <p:cNvSpPr txBox="1"/>
          <p:nvPr>
            <p:ph type="title"/>
          </p:nvPr>
        </p:nvSpPr>
        <p:spPr>
          <a:xfrm>
            <a:off x="914400" y="1943100"/>
            <a:ext cx="73152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5"/>
          <p:cNvSpPr txBox="1"/>
          <p:nvPr>
            <p:ph idx="1" type="subTitle"/>
          </p:nvPr>
        </p:nvSpPr>
        <p:spPr>
          <a:xfrm>
            <a:off x="1371600" y="2828925"/>
            <a:ext cx="6400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6"/>
          <p:cNvSpPr txBox="1"/>
          <p:nvPr>
            <p:ph type="title"/>
          </p:nvPr>
        </p:nvSpPr>
        <p:spPr>
          <a:xfrm>
            <a:off x="914400" y="2143125"/>
            <a:ext cx="7315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7"/>
          <p:cNvSpPr txBox="1"/>
          <p:nvPr>
            <p:ph type="title"/>
          </p:nvPr>
        </p:nvSpPr>
        <p:spPr>
          <a:xfrm>
            <a:off x="514350" y="400050"/>
            <a:ext cx="81153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17"/>
          <p:cNvSpPr txBox="1"/>
          <p:nvPr>
            <p:ph idx="1" type="body"/>
          </p:nvPr>
        </p:nvSpPr>
        <p:spPr>
          <a:xfrm>
            <a:off x="514350" y="1428750"/>
            <a:ext cx="81153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655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6550" lvl="2" marL="13716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6550" lvl="3" marL="18288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6550" lvl="4" marL="22860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6550" lvl="5" marL="27432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36550" lvl="6" marL="32004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6550" lvl="7" marL="36576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6550" lvl="8" marL="4114800" marR="0" rtl="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">
  <p:cSld name="Title and Two Column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8"/>
          <p:cNvSpPr txBox="1"/>
          <p:nvPr>
            <p:ph type="title"/>
          </p:nvPr>
        </p:nvSpPr>
        <p:spPr>
          <a:xfrm>
            <a:off x="514350" y="400050"/>
            <a:ext cx="81153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18"/>
          <p:cNvSpPr txBox="1"/>
          <p:nvPr>
            <p:ph idx="1" type="body"/>
          </p:nvPr>
        </p:nvSpPr>
        <p:spPr>
          <a:xfrm>
            <a:off x="514350" y="1428750"/>
            <a:ext cx="37719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0200" lvl="5" marL="27432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30200" lvl="6" marL="32004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0200" lvl="7" marL="36576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0200" lvl="8" marL="4114800" marR="0" rtl="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18"/>
          <p:cNvSpPr txBox="1"/>
          <p:nvPr>
            <p:ph idx="2" type="body"/>
          </p:nvPr>
        </p:nvSpPr>
        <p:spPr>
          <a:xfrm>
            <a:off x="4857750" y="1428750"/>
            <a:ext cx="37719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0200" lvl="5" marL="27432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30200" lvl="6" marL="32004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0200" lvl="7" marL="36576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0200" lvl="8" marL="4114800" marR="0" rtl="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One Column">
  <p:cSld name="Title and One Column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9"/>
          <p:cNvSpPr txBox="1"/>
          <p:nvPr>
            <p:ph type="title"/>
          </p:nvPr>
        </p:nvSpPr>
        <p:spPr>
          <a:xfrm>
            <a:off x="514350" y="400050"/>
            <a:ext cx="81153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19"/>
          <p:cNvSpPr txBox="1"/>
          <p:nvPr>
            <p:ph idx="1" type="body"/>
          </p:nvPr>
        </p:nvSpPr>
        <p:spPr>
          <a:xfrm>
            <a:off x="514350" y="1428750"/>
            <a:ext cx="37719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655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6550" lvl="2" marL="13716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6550" lvl="3" marL="18288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6550" lvl="4" marL="22860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6550" lvl="5" marL="27432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36550" lvl="6" marL="32004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6550" lvl="7" marL="36576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6550" lvl="8" marL="4114800" marR="0" rtl="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3"/>
          <p:cNvSpPr txBox="1"/>
          <p:nvPr>
            <p:ph type="title"/>
          </p:nvPr>
        </p:nvSpPr>
        <p:spPr>
          <a:xfrm>
            <a:off x="914400" y="1943100"/>
            <a:ext cx="73152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5" name="Google Shape;75;p23"/>
          <p:cNvSpPr txBox="1"/>
          <p:nvPr>
            <p:ph idx="1" type="subTitle"/>
          </p:nvPr>
        </p:nvSpPr>
        <p:spPr>
          <a:xfrm>
            <a:off x="1371600" y="2828925"/>
            <a:ext cx="6400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4"/>
          <p:cNvSpPr txBox="1"/>
          <p:nvPr>
            <p:ph type="title"/>
          </p:nvPr>
        </p:nvSpPr>
        <p:spPr>
          <a:xfrm>
            <a:off x="914400" y="2143125"/>
            <a:ext cx="7315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"/>
          <p:cNvSpPr txBox="1"/>
          <p:nvPr>
            <p:ph type="title"/>
          </p:nvPr>
        </p:nvSpPr>
        <p:spPr>
          <a:xfrm>
            <a:off x="514350" y="400050"/>
            <a:ext cx="81153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0" name="Google Shape;80;p25"/>
          <p:cNvSpPr txBox="1"/>
          <p:nvPr>
            <p:ph idx="1" type="body"/>
          </p:nvPr>
        </p:nvSpPr>
        <p:spPr>
          <a:xfrm>
            <a:off x="514350" y="1428750"/>
            <a:ext cx="81153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655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6550" lvl="2" marL="13716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6550" lvl="3" marL="18288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6550" lvl="4" marL="22860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6550" lvl="5" marL="27432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36550" lvl="6" marL="32004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6550" lvl="7" marL="36576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6550" lvl="8" marL="4114800" marR="0" rtl="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">
  <p:cSld name="Title and Two Column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6"/>
          <p:cNvSpPr txBox="1"/>
          <p:nvPr>
            <p:ph type="title"/>
          </p:nvPr>
        </p:nvSpPr>
        <p:spPr>
          <a:xfrm>
            <a:off x="514350" y="400050"/>
            <a:ext cx="81153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Google Shape;83;p26"/>
          <p:cNvSpPr txBox="1"/>
          <p:nvPr>
            <p:ph idx="1" type="body"/>
          </p:nvPr>
        </p:nvSpPr>
        <p:spPr>
          <a:xfrm>
            <a:off x="514350" y="1428750"/>
            <a:ext cx="37719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0200" lvl="5" marL="27432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30200" lvl="6" marL="32004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0200" lvl="7" marL="36576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0200" lvl="8" marL="4114800" marR="0" rtl="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4" name="Google Shape;84;p26"/>
          <p:cNvSpPr txBox="1"/>
          <p:nvPr>
            <p:ph idx="2" type="body"/>
          </p:nvPr>
        </p:nvSpPr>
        <p:spPr>
          <a:xfrm>
            <a:off x="4857750" y="1428750"/>
            <a:ext cx="37719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0200" lvl="5" marL="27432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30200" lvl="6" marL="32004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0200" lvl="7" marL="36576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0200" lvl="8" marL="4114800" marR="0" rtl="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One Column">
  <p:cSld name="Title and One Column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7"/>
          <p:cNvSpPr txBox="1"/>
          <p:nvPr>
            <p:ph type="title"/>
          </p:nvPr>
        </p:nvSpPr>
        <p:spPr>
          <a:xfrm>
            <a:off x="514350" y="400050"/>
            <a:ext cx="81153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7" name="Google Shape;87;p27"/>
          <p:cNvSpPr txBox="1"/>
          <p:nvPr>
            <p:ph idx="1" type="body"/>
          </p:nvPr>
        </p:nvSpPr>
        <p:spPr>
          <a:xfrm>
            <a:off x="514350" y="1428750"/>
            <a:ext cx="37719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655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6550" lvl="2" marL="13716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6550" lvl="3" marL="18288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6550" lvl="4" marL="22860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6550" lvl="5" marL="27432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36550" lvl="6" marL="32004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6550" lvl="7" marL="36576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6550" lvl="8" marL="4114800" marR="0" rtl="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0" name="Google Shape;90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1" name="Google Shape;91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theme" Target="../theme/theme1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slideLayout" Target="../slideLayouts/slideLayout20.xml"/><Relationship Id="rId3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5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2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hyperlink" Target="http://drive.google.com/file/d/1U8sX9BhwidEjr0ZzXJzbM9TRW2qhiHME/view" TargetMode="External"/><Relationship Id="rId6" Type="http://schemas.openxmlformats.org/officeDocument/2006/relationships/image" Target="../media/image7.jpg"/><Relationship Id="rId7" Type="http://schemas.openxmlformats.org/officeDocument/2006/relationships/hyperlink" Target="http://drive.google.com/file/d/1oyck8G0t0YgL46VHtx6EMv2S4jpkIxNL/view" TargetMode="External"/><Relationship Id="rId8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12.png"/><Relationship Id="rId6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5.png"/><Relationship Id="rId4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Relationship Id="rId4" Type="http://schemas.openxmlformats.org/officeDocument/2006/relationships/image" Target="../media/image3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7.png"/><Relationship Id="rId4" Type="http://schemas.openxmlformats.org/officeDocument/2006/relationships/image" Target="../media/image2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Relationship Id="rId4" Type="http://schemas.openxmlformats.org/officeDocument/2006/relationships/image" Target="../media/image2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png"/><Relationship Id="rId4" Type="http://schemas.openxmlformats.org/officeDocument/2006/relationships/image" Target="../media/image18.png"/><Relationship Id="rId5" Type="http://schemas.openxmlformats.org/officeDocument/2006/relationships/image" Target="../media/image2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10/26 Presentation</a:t>
            </a:r>
            <a:endParaRPr/>
          </a:p>
        </p:txBody>
      </p:sp>
      <p:sp>
        <p:nvSpPr>
          <p:cNvPr id="97" name="Google Shape;97;p2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Yuxin, Zhengfei, Fangyue, Vivian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</a:t>
            </a:r>
            <a:endParaRPr/>
          </a:p>
        </p:txBody>
      </p:sp>
      <p:sp>
        <p:nvSpPr>
          <p:cNvPr id="103" name="Google Shape;103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Introduce what have done last week + Todo from last week + EDDO demo (Vivian)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Optics (NIRCam -&gt; MIRI) what changed inside the cam (Fangyue)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 code needed for NIRCam + how to switch to MIRI (Zhengfei)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DEMO (reproduce results) + Todo for next week (Yuxin)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109" name="Google Shape;109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Last Week: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EDDO &amp; FLIP papers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run EDDO demo code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This Week: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tweak EDDO pipeline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differences between NIRCam vs MIRI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run FLIP code</a:t>
            </a:r>
            <a:endParaRPr/>
          </a:p>
        </p:txBody>
      </p:sp>
      <p:pic>
        <p:nvPicPr>
          <p:cNvPr id="110" name="Google Shape;110;p31" title="jwst_optical_planes_im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1400" y="170475"/>
            <a:ext cx="4151875" cy="184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31" title="Screenshot 2026-10-15 at 23.11.48.png"/>
          <p:cNvPicPr preferRelativeResize="0"/>
          <p:nvPr/>
        </p:nvPicPr>
        <p:blipFill rotWithShape="1">
          <a:blip r:embed="rId4">
            <a:alphaModFix/>
          </a:blip>
          <a:srcRect b="0" l="-2038" r="-5224" t="0"/>
          <a:stretch/>
        </p:blipFill>
        <p:spPr>
          <a:xfrm>
            <a:off x="5013148" y="2015300"/>
            <a:ext cx="3860126" cy="301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EDDO Simulation</a:t>
            </a:r>
            <a:endParaRPr/>
          </a:p>
        </p:txBody>
      </p:sp>
      <p:pic>
        <p:nvPicPr>
          <p:cNvPr id="117" name="Google Shape;117;p32" title="vis_est_res_init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038" y="1978725"/>
            <a:ext cx="2452917" cy="24529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32" title="vis_est_res_100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45541" y="1978725"/>
            <a:ext cx="2452917" cy="24529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32" title="vis_res_gt_w_nois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89045" y="1978725"/>
            <a:ext cx="2452917" cy="2452917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32"/>
          <p:cNvSpPr txBox="1"/>
          <p:nvPr/>
        </p:nvSpPr>
        <p:spPr>
          <a:xfrm>
            <a:off x="402050" y="1517025"/>
            <a:ext cx="245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Initial Residual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1" name="Google Shape;121;p32"/>
          <p:cNvSpPr txBox="1"/>
          <p:nvPr/>
        </p:nvSpPr>
        <p:spPr>
          <a:xfrm>
            <a:off x="3345600" y="1239825"/>
            <a:ext cx="2452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Final</a:t>
            </a:r>
            <a:r>
              <a:rPr lang="en" sz="1800">
                <a:solidFill>
                  <a:schemeClr val="dk2"/>
                </a:solidFill>
              </a:rPr>
              <a:t> Residual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(1000 iterations)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2" name="Google Shape;122;p32"/>
          <p:cNvSpPr txBox="1"/>
          <p:nvPr/>
        </p:nvSpPr>
        <p:spPr>
          <a:xfrm>
            <a:off x="6289150" y="1239825"/>
            <a:ext cx="2452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Ground Truth</a:t>
            </a:r>
            <a:r>
              <a:rPr lang="en" sz="1800">
                <a:solidFill>
                  <a:schemeClr val="dk2"/>
                </a:solidFill>
              </a:rPr>
              <a:t> Residual (with noise)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EDDO Real JWST Data - HIP 65426</a:t>
            </a:r>
            <a:endParaRPr/>
          </a:p>
        </p:txBody>
      </p:sp>
      <p:pic>
        <p:nvPicPr>
          <p:cNvPr id="128" name="Google Shape;128;p33" title="vis_est_res_ini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150" y="2352525"/>
            <a:ext cx="2409964" cy="240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33" title="vis_est_res_300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33124" y="2352525"/>
            <a:ext cx="2409964" cy="240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33" title="progress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76200" y="732675"/>
            <a:ext cx="2335250" cy="192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33" title="opd_progress.mp4">
            <a:hlinkClick r:id="rId7"/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176200" y="3115025"/>
            <a:ext cx="2335250" cy="180552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33"/>
          <p:cNvSpPr txBox="1"/>
          <p:nvPr/>
        </p:nvSpPr>
        <p:spPr>
          <a:xfrm>
            <a:off x="482150" y="1890825"/>
            <a:ext cx="240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Initial Residual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3" name="Google Shape;133;p33"/>
          <p:cNvSpPr txBox="1"/>
          <p:nvPr/>
        </p:nvSpPr>
        <p:spPr>
          <a:xfrm>
            <a:off x="3111663" y="1613625"/>
            <a:ext cx="2452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Final Residual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(3000 iterations)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4" name="Google Shape;134;p33"/>
          <p:cNvSpPr txBox="1"/>
          <p:nvPr/>
        </p:nvSpPr>
        <p:spPr>
          <a:xfrm>
            <a:off x="6176200" y="270975"/>
            <a:ext cx="2335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Residual Change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5" name="Google Shape;135;p33"/>
          <p:cNvSpPr txBox="1"/>
          <p:nvPr/>
        </p:nvSpPr>
        <p:spPr>
          <a:xfrm>
            <a:off x="6176200" y="2653325"/>
            <a:ext cx="2335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OPD</a:t>
            </a:r>
            <a:r>
              <a:rPr lang="en" sz="1800">
                <a:solidFill>
                  <a:schemeClr val="dk2"/>
                </a:solidFill>
              </a:rPr>
              <a:t> Change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EDDO Experiments - Varying Planet Position</a:t>
            </a:r>
            <a:endParaRPr/>
          </a:p>
        </p:txBody>
      </p:sp>
      <p:pic>
        <p:nvPicPr>
          <p:cNvPr id="141" name="Google Shape;141;p34" title="final_residuals_12_position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9650" y="1017725"/>
            <a:ext cx="5511798" cy="4125774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34"/>
          <p:cNvSpPr txBox="1"/>
          <p:nvPr>
            <p:ph idx="1" type="body"/>
          </p:nvPr>
        </p:nvSpPr>
        <p:spPr>
          <a:xfrm>
            <a:off x="311700" y="1152475"/>
            <a:ext cx="2858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Planet-star separation: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0.5, 0.75, 1.0 arcseconds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Position angle: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0.3π, 0.8π, 1.3π, 1.8π radians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EDDO Experiments - Varying Planet Position</a:t>
            </a:r>
            <a:endParaRPr/>
          </a:p>
        </p:txBody>
      </p:sp>
      <p:grpSp>
        <p:nvGrpSpPr>
          <p:cNvPr id="148" name="Google Shape;148;p35"/>
          <p:cNvGrpSpPr/>
          <p:nvPr/>
        </p:nvGrpSpPr>
        <p:grpSpPr>
          <a:xfrm>
            <a:off x="468500" y="1132975"/>
            <a:ext cx="3356099" cy="3639573"/>
            <a:chOff x="3356100" y="1503925"/>
            <a:chExt cx="3356099" cy="3639573"/>
          </a:xfrm>
        </p:grpSpPr>
        <p:pic>
          <p:nvPicPr>
            <p:cNvPr id="149" name="Google Shape;149;p35" title="position_robustness_12x3.png"/>
            <p:cNvPicPr preferRelativeResize="0"/>
            <p:nvPr/>
          </p:nvPicPr>
          <p:blipFill rotWithShape="1">
            <a:blip r:embed="rId3">
              <a:alphaModFix/>
            </a:blip>
            <a:srcRect b="32558" l="0" r="0" t="35088"/>
            <a:stretch/>
          </p:blipFill>
          <p:spPr>
            <a:xfrm>
              <a:off x="3356100" y="1574136"/>
              <a:ext cx="3356099" cy="356936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0" name="Google Shape;150;p35" title="position_robustness_12x3.png"/>
            <p:cNvPicPr preferRelativeResize="0"/>
            <p:nvPr/>
          </p:nvPicPr>
          <p:blipFill rotWithShape="1">
            <a:blip r:embed="rId3">
              <a:alphaModFix/>
            </a:blip>
            <a:srcRect b="97603" l="0" r="0" t="1761"/>
            <a:stretch/>
          </p:blipFill>
          <p:spPr>
            <a:xfrm>
              <a:off x="3356100" y="1503925"/>
              <a:ext cx="3356099" cy="70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1" name="Google Shape;151;p35"/>
          <p:cNvGrpSpPr/>
          <p:nvPr/>
        </p:nvGrpSpPr>
        <p:grpSpPr>
          <a:xfrm>
            <a:off x="4624850" y="1132975"/>
            <a:ext cx="3356100" cy="3639573"/>
            <a:chOff x="5787900" y="1503925"/>
            <a:chExt cx="3356100" cy="3639573"/>
          </a:xfrm>
        </p:grpSpPr>
        <p:pic>
          <p:nvPicPr>
            <p:cNvPr id="152" name="Google Shape;152;p35" title="position_robustness_12x3.png"/>
            <p:cNvPicPr preferRelativeResize="0"/>
            <p:nvPr/>
          </p:nvPicPr>
          <p:blipFill rotWithShape="1">
            <a:blip r:embed="rId3">
              <a:alphaModFix/>
            </a:blip>
            <a:srcRect b="0" l="0" r="0" t="67646"/>
            <a:stretch/>
          </p:blipFill>
          <p:spPr>
            <a:xfrm>
              <a:off x="5787900" y="1574136"/>
              <a:ext cx="3356099" cy="356936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" name="Google Shape;153;p35" title="position_robustness_12x3.png"/>
            <p:cNvPicPr preferRelativeResize="0"/>
            <p:nvPr/>
          </p:nvPicPr>
          <p:blipFill rotWithShape="1">
            <a:blip r:embed="rId3">
              <a:alphaModFix/>
            </a:blip>
            <a:srcRect b="97603" l="0" r="0" t="1761"/>
            <a:stretch/>
          </p:blipFill>
          <p:spPr>
            <a:xfrm>
              <a:off x="5787900" y="1503925"/>
              <a:ext cx="3356099" cy="70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Google Shape;158;p36"/>
          <p:cNvGrpSpPr/>
          <p:nvPr/>
        </p:nvGrpSpPr>
        <p:grpSpPr>
          <a:xfrm>
            <a:off x="2626900" y="929300"/>
            <a:ext cx="3356099" cy="3639577"/>
            <a:chOff x="0" y="1503925"/>
            <a:chExt cx="3356099" cy="3639577"/>
          </a:xfrm>
        </p:grpSpPr>
        <p:pic>
          <p:nvPicPr>
            <p:cNvPr id="159" name="Google Shape;159;p36" title="position_robustness_12x3.png"/>
            <p:cNvPicPr preferRelativeResize="0"/>
            <p:nvPr/>
          </p:nvPicPr>
          <p:blipFill rotWithShape="1">
            <a:blip r:embed="rId3">
              <a:alphaModFix/>
            </a:blip>
            <a:srcRect b="65138" l="0" r="0" t="2507"/>
            <a:stretch/>
          </p:blipFill>
          <p:spPr>
            <a:xfrm>
              <a:off x="0" y="1574125"/>
              <a:ext cx="3356099" cy="35693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0" name="Google Shape;160;p36" title="position_robustness_12x3.png"/>
            <p:cNvPicPr preferRelativeResize="0"/>
            <p:nvPr/>
          </p:nvPicPr>
          <p:blipFill rotWithShape="1">
            <a:blip r:embed="rId3">
              <a:alphaModFix/>
            </a:blip>
            <a:srcRect b="97603" l="0" r="0" t="1761"/>
            <a:stretch/>
          </p:blipFill>
          <p:spPr>
            <a:xfrm>
              <a:off x="0" y="1503925"/>
              <a:ext cx="3356099" cy="70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EDDO Experiments - Varying Star Position</a:t>
            </a:r>
            <a:endParaRPr/>
          </a:p>
        </p:txBody>
      </p:sp>
      <p:pic>
        <p:nvPicPr>
          <p:cNvPr id="166" name="Google Shape;166;p37" title="vis_est_res_1000-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7149" y="2044425"/>
            <a:ext cx="1935355" cy="19353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37" title="vis_est_res_1000-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97349" y="2044425"/>
            <a:ext cx="1935355" cy="19353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37" title="vis_est_res_1000-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7550" y="2044425"/>
            <a:ext cx="1935355" cy="19353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37" title="vis_est_res_1000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96945" y="2044425"/>
            <a:ext cx="1935355" cy="193537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37"/>
          <p:cNvSpPr txBox="1"/>
          <p:nvPr/>
        </p:nvSpPr>
        <p:spPr>
          <a:xfrm>
            <a:off x="447550" y="1582725"/>
            <a:ext cx="1935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x: 0.1 arcseconds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171" name="Google Shape;171;p37"/>
          <p:cNvSpPr txBox="1"/>
          <p:nvPr/>
        </p:nvSpPr>
        <p:spPr>
          <a:xfrm>
            <a:off x="2597375" y="1582725"/>
            <a:ext cx="1935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y</a:t>
            </a:r>
            <a:r>
              <a:rPr lang="en" sz="1700">
                <a:solidFill>
                  <a:schemeClr val="dk2"/>
                </a:solidFill>
              </a:rPr>
              <a:t>: 0.1 arcseconds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172" name="Google Shape;172;p37"/>
          <p:cNvSpPr txBox="1"/>
          <p:nvPr/>
        </p:nvSpPr>
        <p:spPr>
          <a:xfrm>
            <a:off x="4747200" y="1321125"/>
            <a:ext cx="1935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x: 0.1 arcseconds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y: 0.1 arcseconds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173" name="Google Shape;173;p37"/>
          <p:cNvSpPr txBox="1"/>
          <p:nvPr/>
        </p:nvSpPr>
        <p:spPr>
          <a:xfrm>
            <a:off x="6897025" y="1582725"/>
            <a:ext cx="1935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No Offset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174" name="Google Shape;174;p37"/>
          <p:cNvSpPr txBox="1"/>
          <p:nvPr/>
        </p:nvSpPr>
        <p:spPr>
          <a:xfrm>
            <a:off x="447600" y="3979775"/>
            <a:ext cx="1935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SNR: 0.66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175" name="Google Shape;175;p37"/>
          <p:cNvSpPr txBox="1"/>
          <p:nvPr/>
        </p:nvSpPr>
        <p:spPr>
          <a:xfrm>
            <a:off x="2597375" y="3995075"/>
            <a:ext cx="1935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SNR: 0.62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176" name="Google Shape;176;p37"/>
          <p:cNvSpPr txBox="1"/>
          <p:nvPr/>
        </p:nvSpPr>
        <p:spPr>
          <a:xfrm>
            <a:off x="4700500" y="3995075"/>
            <a:ext cx="1935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SNR: 0.59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177" name="Google Shape;177;p37"/>
          <p:cNvSpPr txBox="1"/>
          <p:nvPr/>
        </p:nvSpPr>
        <p:spPr>
          <a:xfrm>
            <a:off x="6896975" y="3995100"/>
            <a:ext cx="1935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SNR: 0.65</a:t>
            </a:r>
            <a:endParaRPr sz="1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EDDO Experiments - Varying Contrast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38" title="contrast_swee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963" y="2197049"/>
            <a:ext cx="8628076" cy="222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38"/>
          <p:cNvSpPr txBox="1"/>
          <p:nvPr>
            <p:ph idx="1" type="body"/>
          </p:nvPr>
        </p:nvSpPr>
        <p:spPr>
          <a:xfrm>
            <a:off x="311700" y="1152475"/>
            <a:ext cx="8520600" cy="7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Contrast: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8e-7, 1e-6, 2e-6, 4e-6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EDDO Experiments - Varying Contrast</a:t>
            </a:r>
            <a:endParaRPr/>
          </a:p>
        </p:txBody>
      </p:sp>
      <p:pic>
        <p:nvPicPr>
          <p:cNvPr id="190" name="Google Shape;190;p39" title="contrast_sweep_initial_final_optimal.png"/>
          <p:cNvPicPr preferRelativeResize="0"/>
          <p:nvPr/>
        </p:nvPicPr>
        <p:blipFill rotWithShape="1">
          <a:blip r:embed="rId3">
            <a:alphaModFix/>
          </a:blip>
          <a:srcRect b="47445" l="0" r="0" t="5067"/>
          <a:stretch/>
        </p:blipFill>
        <p:spPr>
          <a:xfrm>
            <a:off x="306975" y="1918900"/>
            <a:ext cx="4216750" cy="24425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39" title="contrast_sweep_initial_final_optimal.png"/>
          <p:cNvPicPr preferRelativeResize="0"/>
          <p:nvPr/>
        </p:nvPicPr>
        <p:blipFill rotWithShape="1">
          <a:blip r:embed="rId3">
            <a:alphaModFix/>
          </a:blip>
          <a:srcRect b="0" l="0" r="0" t="52512"/>
          <a:stretch/>
        </p:blipFill>
        <p:spPr>
          <a:xfrm>
            <a:off x="4620275" y="1918900"/>
            <a:ext cx="4216750" cy="24425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39" title="position_robustness_12x3.png"/>
          <p:cNvPicPr preferRelativeResize="0"/>
          <p:nvPr/>
        </p:nvPicPr>
        <p:blipFill rotWithShape="1">
          <a:blip r:embed="rId4">
            <a:alphaModFix/>
          </a:blip>
          <a:srcRect b="97603" l="0" r="0" t="1761"/>
          <a:stretch/>
        </p:blipFill>
        <p:spPr>
          <a:xfrm>
            <a:off x="306975" y="1830698"/>
            <a:ext cx="4216751" cy="88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39" title="position_robustness_12x3.png"/>
          <p:cNvPicPr preferRelativeResize="0"/>
          <p:nvPr/>
        </p:nvPicPr>
        <p:blipFill rotWithShape="1">
          <a:blip r:embed="rId4">
            <a:alphaModFix/>
          </a:blip>
          <a:srcRect b="97603" l="0" r="0" t="1761"/>
          <a:stretch/>
        </p:blipFill>
        <p:spPr>
          <a:xfrm>
            <a:off x="4620275" y="1830698"/>
            <a:ext cx="4216751" cy="882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0"/>
          <p:cNvSpPr txBox="1"/>
          <p:nvPr>
            <p:ph type="title"/>
          </p:nvPr>
        </p:nvSpPr>
        <p:spPr>
          <a:xfrm>
            <a:off x="311700" y="269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NIRCam vs. MIRI: Wavelength Coverage</a:t>
            </a:r>
            <a:endParaRPr sz="2000"/>
          </a:p>
        </p:txBody>
      </p:sp>
      <p:sp>
        <p:nvSpPr>
          <p:cNvPr id="199" name="Google Shape;199;p40"/>
          <p:cNvSpPr txBox="1"/>
          <p:nvPr>
            <p:ph idx="1" type="body"/>
          </p:nvPr>
        </p:nvSpPr>
        <p:spPr>
          <a:xfrm>
            <a:off x="364275" y="3661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NIRCam coronagraphy:</a:t>
            </a:r>
            <a:r>
              <a:rPr lang="en" sz="1600">
                <a:solidFill>
                  <a:schemeClr val="dk1"/>
                </a:solidFill>
              </a:rPr>
              <a:t> approximately 1.82–5 μm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MIRI coronagraphy:</a:t>
            </a:r>
            <a:r>
              <a:rPr lang="en" sz="1600">
                <a:solidFill>
                  <a:schemeClr val="dk1"/>
                </a:solidFill>
              </a:rPr>
              <a:t> approximately 10–23 μm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extend the optical modeling framework to MIRI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Different wavelength ranges require instrument-specific optical configurations and coronagraph designs.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0" name="Google Shape;200;p40"/>
          <p:cNvPicPr preferRelativeResize="0"/>
          <p:nvPr/>
        </p:nvPicPr>
        <p:blipFill rotWithShape="1">
          <a:blip r:embed="rId3">
            <a:alphaModFix/>
          </a:blip>
          <a:srcRect b="6681" l="0" r="0" t="10117"/>
          <a:stretch/>
        </p:blipFill>
        <p:spPr>
          <a:xfrm>
            <a:off x="3244600" y="2453450"/>
            <a:ext cx="5863399" cy="254580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miter lim="8000"/>
            <a:headEnd len="sm" w="sm" type="none"/>
            <a:tailEnd len="sm" w="sm" type="none"/>
          </a:ln>
        </p:spPr>
      </p:pic>
      <p:pic>
        <p:nvPicPr>
          <p:cNvPr id="201" name="Google Shape;201;p40" title="截屏2026-10-25 23.36.3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727750"/>
            <a:ext cx="3753776" cy="1544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" sz="2000"/>
              <a:t>What Changes Between NIRCam and MIRI?</a:t>
            </a:r>
            <a:endParaRPr sz="2000"/>
          </a:p>
        </p:txBody>
      </p:sp>
      <p:sp>
        <p:nvSpPr>
          <p:cNvPr id="207" name="Google Shape;207;p41"/>
          <p:cNvSpPr txBox="1"/>
          <p:nvPr>
            <p:ph idx="1" type="body"/>
          </p:nvPr>
        </p:nvSpPr>
        <p:spPr>
          <a:xfrm>
            <a:off x="399325" y="1254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Can be retained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General optical propagation framework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Pre-mask and post-mask OPD representation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Needs MIRI-specific configuration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Focal-plane mask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Lyot stop and filter configuration</a:t>
            </a:r>
            <a:endParaRPr sz="2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41"/>
          <p:cNvSpPr txBox="1"/>
          <p:nvPr/>
        </p:nvSpPr>
        <p:spPr>
          <a:xfrm>
            <a:off x="4531775" y="1193300"/>
            <a:ext cx="45246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</a:rPr>
              <a:t>OTE Entrance WFE (pre-mask OPD)</a:t>
            </a:r>
            <a:endParaRPr sz="1600">
              <a:solidFill>
                <a:srgbClr val="1155CC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↓</a:t>
            </a:r>
            <a:endParaRPr sz="1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Telescope Pupil</a:t>
            </a:r>
            <a:endParaRPr sz="1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↓</a:t>
            </a:r>
            <a:endParaRPr sz="1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980000"/>
                </a:solidFill>
              </a:rPr>
              <a:t>Focal-Plane Mask (FPM)</a:t>
            </a:r>
            <a:endParaRPr sz="1600">
              <a:solidFill>
                <a:srgbClr val="98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↓</a:t>
            </a:r>
            <a:endParaRPr sz="1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980000"/>
                </a:solidFill>
              </a:rPr>
              <a:t>Lyot Stop</a:t>
            </a:r>
            <a:endParaRPr sz="1600">
              <a:solidFill>
                <a:srgbClr val="98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↓</a:t>
            </a:r>
            <a:endParaRPr sz="1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</a:rPr>
              <a:t>Instrument Internal WFE</a:t>
            </a:r>
            <a:endParaRPr sz="1600">
              <a:solidFill>
                <a:srgbClr val="1155CC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</a:rPr>
              <a:t>(post-mask OPD in the STPSF model)</a:t>
            </a:r>
            <a:endParaRPr sz="1600">
              <a:solidFill>
                <a:srgbClr val="1155CC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↓</a:t>
            </a:r>
            <a:endParaRPr sz="1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Detector</a:t>
            </a:r>
            <a:endParaRPr sz="1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2"/>
          <p:cNvSpPr txBox="1"/>
          <p:nvPr>
            <p:ph type="title"/>
          </p:nvPr>
        </p:nvSpPr>
        <p:spPr>
          <a:xfrm>
            <a:off x="311700" y="3348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" sz="2000"/>
              <a:t>Difference: Focal Plane Masks</a:t>
            </a:r>
            <a:endParaRPr sz="2000"/>
          </a:p>
        </p:txBody>
      </p:sp>
      <p:sp>
        <p:nvSpPr>
          <p:cNvPr id="214" name="Google Shape;214;p42"/>
          <p:cNvSpPr txBox="1"/>
          <p:nvPr>
            <p:ph idx="1" type="body"/>
          </p:nvPr>
        </p:nvSpPr>
        <p:spPr>
          <a:xfrm>
            <a:off x="311700" y="868850"/>
            <a:ext cx="8520600" cy="21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NIRCam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Round and bar-shaped occulting masks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Block light from a bright central source</a:t>
            </a:r>
            <a:endParaRPr/>
          </a:p>
        </p:txBody>
      </p:sp>
      <p:pic>
        <p:nvPicPr>
          <p:cNvPr id="215" name="Google Shape;215;p42" title="截屏2026-10-26 02.11.34.png"/>
          <p:cNvPicPr preferRelativeResize="0"/>
          <p:nvPr/>
        </p:nvPicPr>
        <p:blipFill rotWithShape="1">
          <a:blip r:embed="rId3">
            <a:alphaModFix/>
          </a:blip>
          <a:srcRect b="4099" l="9678" r="5425" t="16004"/>
          <a:stretch/>
        </p:blipFill>
        <p:spPr>
          <a:xfrm>
            <a:off x="4778793" y="2881450"/>
            <a:ext cx="4365206" cy="218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42" title="截屏2026-10-26 02.17.11.png"/>
          <p:cNvPicPr preferRelativeResize="0"/>
          <p:nvPr/>
        </p:nvPicPr>
        <p:blipFill rotWithShape="1">
          <a:blip r:embed="rId4">
            <a:alphaModFix/>
          </a:blip>
          <a:srcRect b="0" l="8139" r="928" t="0"/>
          <a:stretch/>
        </p:blipFill>
        <p:spPr>
          <a:xfrm>
            <a:off x="4657675" y="535875"/>
            <a:ext cx="4486324" cy="1794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42"/>
          <p:cNvSpPr txBox="1"/>
          <p:nvPr/>
        </p:nvSpPr>
        <p:spPr>
          <a:xfrm>
            <a:off x="311700" y="2074350"/>
            <a:ext cx="5054700" cy="20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MIRI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Three </a:t>
            </a:r>
            <a:r>
              <a:rPr b="1" lang="en" sz="1600">
                <a:solidFill>
                  <a:schemeClr val="dk1"/>
                </a:solidFill>
              </a:rPr>
              <a:t>four-quadrant phase masks (4QPMs)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One classical Lyot coronagraph with a circular occulting spot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Different coronagraph designs for different wavelength bands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3"/>
          <p:cNvSpPr txBox="1"/>
          <p:nvPr>
            <p:ph type="title"/>
          </p:nvPr>
        </p:nvSpPr>
        <p:spPr>
          <a:xfrm>
            <a:off x="311700" y="209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" sz="2000"/>
              <a:t>Filters and Lyot Stops</a:t>
            </a:r>
            <a:endParaRPr sz="2000"/>
          </a:p>
        </p:txBody>
      </p:sp>
      <p:sp>
        <p:nvSpPr>
          <p:cNvPr id="223" name="Google Shape;223;p43"/>
          <p:cNvSpPr txBox="1"/>
          <p:nvPr>
            <p:ph idx="1" type="body"/>
          </p:nvPr>
        </p:nvSpPr>
        <p:spPr>
          <a:xfrm>
            <a:off x="311700" y="708050"/>
            <a:ext cx="8520600" cy="17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NIRCam:</a:t>
            </a:r>
            <a:r>
              <a:rPr lang="en" sz="1600">
                <a:solidFill>
                  <a:schemeClr val="dk1"/>
                </a:solidFill>
              </a:rPr>
              <a:t> Occulting masks are paired with compatible Lyot stops.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MIRI:</a:t>
            </a:r>
            <a:r>
              <a:rPr lang="en" sz="1600">
                <a:solidFill>
                  <a:schemeClr val="dk1"/>
                </a:solidFill>
              </a:rPr>
              <a:t> Each coronagraph has a corresponding filter configuration.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The optical model must match the selected instrument mode and coronagraph.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4" name="Google Shape;224;p43" title="截屏2026-10-25 23.23.23.png"/>
          <p:cNvPicPr preferRelativeResize="0"/>
          <p:nvPr/>
        </p:nvPicPr>
        <p:blipFill rotWithShape="1">
          <a:blip r:embed="rId3">
            <a:alphaModFix/>
          </a:blip>
          <a:srcRect b="19383" l="10013" r="6340" t="20103"/>
          <a:stretch/>
        </p:blipFill>
        <p:spPr>
          <a:xfrm>
            <a:off x="1903913" y="1771188"/>
            <a:ext cx="5242438" cy="1601125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miter lim="8000"/>
            <a:headEnd len="sm" w="sm" type="none"/>
            <a:tailEnd len="sm" w="sm" type="none"/>
          </a:ln>
        </p:spPr>
      </p:pic>
      <p:pic>
        <p:nvPicPr>
          <p:cNvPr id="225" name="Google Shape;225;p43" title="截屏2026-10-25 23.23.5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27725" y="3435300"/>
            <a:ext cx="5088542" cy="170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What Must Be Matched for MIRI?</a:t>
            </a:r>
            <a:endParaRPr sz="2000"/>
          </a:p>
        </p:txBody>
      </p:sp>
      <p:sp>
        <p:nvSpPr>
          <p:cNvPr id="231" name="Google Shape;231;p44"/>
          <p:cNvSpPr txBox="1"/>
          <p:nvPr>
            <p:ph idx="1" type="body"/>
          </p:nvPr>
        </p:nvSpPr>
        <p:spPr>
          <a:xfrm>
            <a:off x="526200" y="1356450"/>
            <a:ext cx="6238500" cy="23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• MIRI focal-plane mask and Lyot stop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• MIRI filter–coronagraph pairing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• OTE OPD and instrument-internal WFE inputs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• MIRI wavelength samples and weights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• Detector sampling and calibration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2" name="Google Shape;232;p44" title="截屏2026-10-25 23.30.51.png"/>
          <p:cNvPicPr preferRelativeResize="0"/>
          <p:nvPr/>
        </p:nvPicPr>
        <p:blipFill rotWithShape="1">
          <a:blip r:embed="rId3">
            <a:alphaModFix/>
          </a:blip>
          <a:srcRect b="0" l="0" r="31922" t="0"/>
          <a:stretch/>
        </p:blipFill>
        <p:spPr>
          <a:xfrm>
            <a:off x="5137225" y="1059400"/>
            <a:ext cx="3754548" cy="3530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5"/>
          <p:cNvSpPr txBox="1"/>
          <p:nvPr>
            <p:ph type="title"/>
          </p:nvPr>
        </p:nvSpPr>
        <p:spPr>
          <a:xfrm>
            <a:off x="269100" y="198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The code needed for NIRCam + how to switch to MIRI</a:t>
            </a:r>
            <a:endParaRPr/>
          </a:p>
        </p:txBody>
      </p:sp>
      <p:graphicFrame>
        <p:nvGraphicFramePr>
          <p:cNvPr id="238" name="Google Shape;238;p45"/>
          <p:cNvGraphicFramePr/>
          <p:nvPr/>
        </p:nvGraphicFramePr>
        <p:xfrm>
          <a:off x="1231375" y="1646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{024481DE-C3F7-4C88-B07E-3593388C2449}</a:tableStyleId>
              </a:tblPr>
              <a:tblGrid>
                <a:gridCol w="2386025"/>
                <a:gridCol w="4231050"/>
              </a:tblGrid>
              <a:tr h="405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Files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Role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389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run_JWST_test_HIP65426.sh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Launches the demo with data paths and experiment settings.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9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run_FLIP.py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Sets up the model, runs optimization, and saves results.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9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dl_utils.py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Loads optical arrays and provides evaluation utilities.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10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propagation_classes.py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Implements optical propagation and PSF generation.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2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model_classes.py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Defines learnable corrections to the physical model.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39" name="Google Shape;239;p45"/>
          <p:cNvSpPr txBox="1"/>
          <p:nvPr/>
        </p:nvSpPr>
        <p:spPr>
          <a:xfrm>
            <a:off x="732350" y="798874"/>
            <a:ext cx="6037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FLIP Code Structure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https://github.com/rferrerc/pyflip/tree/submission</a:t>
            </a:r>
            <a:endParaRPr i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6"/>
          <p:cNvSpPr txBox="1"/>
          <p:nvPr/>
        </p:nvSpPr>
        <p:spPr>
          <a:xfrm>
            <a:off x="349150" y="42555"/>
            <a:ext cx="66507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FLIP Prediction and MIRI Adaptation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PointPropagate.forward()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>
                <a:solidFill>
                  <a:schemeClr val="dk1"/>
                </a:solidFill>
              </a:rPr>
              <a:t>in</a:t>
            </a:r>
            <a:r>
              <a:rPr lang="en">
                <a:solidFill>
                  <a:srgbClr val="595959"/>
                </a:solidFill>
              </a:rPr>
              <a:t> </a:t>
            </a:r>
            <a:r>
              <a:rPr i="1"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propagation_classes.py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aphicFrame>
        <p:nvGraphicFramePr>
          <p:cNvPr id="245" name="Google Shape;245;p46"/>
          <p:cNvGraphicFramePr/>
          <p:nvPr/>
        </p:nvGraphicFramePr>
        <p:xfrm>
          <a:off x="349150" y="78162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{ACB0F00A-6859-48FD-9947-20424EC80FB2}</a:tableStyleId>
              </a:tblPr>
              <a:tblGrid>
                <a:gridCol w="1504950"/>
                <a:gridCol w="1979425"/>
                <a:gridCol w="4848175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Step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Current implementation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Adaptation to MIRI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Incoming field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Stellar position and entrance OPD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Keep the method. Update observation inputs.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Telescope pupil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JWST pupil array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Keep the geometry. Verify sampling and orientation.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Mask and Lyot stop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MASK335R and NIRCam stop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E06666"/>
                          </a:solidFill>
                        </a:rPr>
                        <a:t>Replace the focal-plane mask and Lyot stop with the matching MIRI configuration.</a:t>
                      </a:r>
                      <a:r>
                        <a:rPr lang="en">
                          <a:solidFill>
                            <a:srgbClr val="E06666"/>
                          </a:solidFill>
                        </a:rPr>
                        <a:t> </a:t>
                      </a:r>
                      <a:r>
                        <a:rPr lang="en"/>
                        <a:t>Verify phase transmission.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Internal aberrations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NIRCam internal OPD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E06666"/>
                          </a:solidFill>
                        </a:rPr>
                        <a:t>Replace OPD data.</a:t>
                      </a:r>
                      <a:r>
                        <a:rPr lang="en"/>
                        <a:t> Keep the phase calculation.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Field to intensity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Squared field magnitude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Keep the same calculation.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Bandpass and detector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Current weights and detector settings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E06666"/>
                          </a:solidFill>
                        </a:rPr>
                        <a:t>Update MIRI spectral weights, sampling, response, and calibration.</a:t>
                      </a:r>
                      <a:endParaRPr b="1">
                        <a:solidFill>
                          <a:srgbClr val="E06666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6" name="Google Shape;246;p46"/>
          <p:cNvSpPr txBox="1"/>
          <p:nvPr/>
        </p:nvSpPr>
        <p:spPr>
          <a:xfrm>
            <a:off x="365250" y="4419650"/>
            <a:ext cx="8413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are these settings defined in the current code?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optical inputs come from the </a:t>
            </a:r>
            <a:r>
              <a:rPr b="1" lang="en"/>
              <a:t>data loader</a:t>
            </a:r>
            <a:r>
              <a:rPr lang="en"/>
              <a:t>, while the </a:t>
            </a:r>
            <a:r>
              <a:rPr b="1" lang="en"/>
              <a:t>main script </a:t>
            </a:r>
            <a:r>
              <a:rPr lang="en"/>
              <a:t>sets up the observation and model.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7"/>
          <p:cNvSpPr txBox="1"/>
          <p:nvPr>
            <p:ph idx="1" type="body"/>
          </p:nvPr>
        </p:nvSpPr>
        <p:spPr>
          <a:xfrm>
            <a:off x="92425" y="225475"/>
            <a:ext cx="3901500" cy="14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NI</a:t>
            </a:r>
            <a:r>
              <a:rPr b="1" lang="en">
                <a:solidFill>
                  <a:schemeClr val="dk1"/>
                </a:solidFill>
              </a:rPr>
              <a:t>RCam Configuration in FLIP</a:t>
            </a:r>
            <a:r>
              <a:rPr b="1" lang="en" sz="1700"/>
              <a:t> </a:t>
            </a:r>
            <a:endParaRPr b="1" sz="17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dl_utils.py</a:t>
            </a:r>
            <a:endParaRPr b="1" sz="17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load_data(): </a:t>
            </a:r>
            <a:r>
              <a:rPr lang="en" sz="1400">
                <a:solidFill>
                  <a:schemeClr val="dk1"/>
                </a:solidFill>
              </a:rPr>
              <a:t>loads precomputed optical arrays. </a:t>
            </a:r>
            <a:r>
              <a:rPr lang="en" sz="1400"/>
              <a:t> </a:t>
            </a:r>
            <a:endParaRPr sz="1400"/>
          </a:p>
        </p:txBody>
      </p:sp>
      <p:graphicFrame>
        <p:nvGraphicFramePr>
          <p:cNvPr id="252" name="Google Shape;252;p47"/>
          <p:cNvGraphicFramePr/>
          <p:nvPr/>
        </p:nvGraphicFramePr>
        <p:xfrm>
          <a:off x="194613" y="1592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{024481DE-C3F7-4C88-B07E-3593388C2449}</a:tableStyleId>
              </a:tblPr>
              <a:tblGrid>
                <a:gridCol w="1283975"/>
                <a:gridCol w="3502200"/>
              </a:tblGrid>
              <a:tr h="405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Variable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Physical meaning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389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aperture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Telescope pupil transmission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9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lyot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Lyot stop transmission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9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fpm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Focal-plane mask transmission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10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nircam_opd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Instrument-internal optical path difference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2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wlens_weights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Wavelength samples and weights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53" name="Google Shape;253;p47"/>
          <p:cNvSpPr txBox="1"/>
          <p:nvPr/>
        </p:nvSpPr>
        <p:spPr>
          <a:xfrm>
            <a:off x="135000" y="4177150"/>
            <a:ext cx="4140000" cy="9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MIRI Adaptation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Load the matching MIRI optical arrays.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Verify the pupil sampling and orientations.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254" name="Google Shape;254;p47"/>
          <p:cNvSpPr txBox="1"/>
          <p:nvPr/>
        </p:nvSpPr>
        <p:spPr>
          <a:xfrm>
            <a:off x="5373425" y="672750"/>
            <a:ext cx="3457200" cy="23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run_FLIP.py</a:t>
            </a:r>
            <a:endParaRPr i="1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Model and observation setup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- Pixel scale and sampling parameters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- Focal-plane mask tensor type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- Observation files and image cropping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- Flux scaling and calibration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255" name="Google Shape;255;p47"/>
          <p:cNvSpPr txBox="1"/>
          <p:nvPr/>
        </p:nvSpPr>
        <p:spPr>
          <a:xfrm>
            <a:off x="5422350" y="3331275"/>
            <a:ext cx="4140000" cy="9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MIRI Adaptation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Change above settings.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Verify the mask </a:t>
            </a:r>
            <a:r>
              <a:rPr lang="en">
                <a:solidFill>
                  <a:schemeClr val="dk1"/>
                </a:solidFill>
              </a:rPr>
              <a:t>transmission</a:t>
            </a:r>
            <a:r>
              <a:rPr lang="en">
                <a:solidFill>
                  <a:schemeClr val="dk1"/>
                </a:solidFill>
              </a:rPr>
              <a:t> data type.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8"/>
          <p:cNvSpPr txBox="1"/>
          <p:nvPr/>
        </p:nvSpPr>
        <p:spPr>
          <a:xfrm>
            <a:off x="570550" y="3321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Next Steps and Validation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261" name="Google Shape;261;p48"/>
          <p:cNvSpPr txBox="1"/>
          <p:nvPr/>
        </p:nvSpPr>
        <p:spPr>
          <a:xfrm>
            <a:off x="570550" y="1102300"/>
            <a:ext cx="4973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Reproduce the current NIRCam demo.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Select one MIRI mode and prepare matching optical inputs.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Modify the code for MIRI and run a first test.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62" name="Google Shape;262;p48"/>
          <p:cNvSpPr txBox="1"/>
          <p:nvPr/>
        </p:nvSpPr>
        <p:spPr>
          <a:xfrm>
            <a:off x="570550" y="2527950"/>
            <a:ext cx="80133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Compare predicted PSFs with a matching STPSF simulation.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Check PSF scale, structure, and mask alignment.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Check how much starlight is suppressed and how much planet light passes through the system. (Our goal is to reduce the starlight while preserving the faint planet signal!)</a:t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9"/>
          <p:cNvSpPr/>
          <p:nvPr/>
        </p:nvSpPr>
        <p:spPr>
          <a:xfrm>
            <a:off x="304800" y="466725"/>
            <a:ext cx="83820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en" sz="2250" u="none" cap="none" strike="noStrike">
                <a:solidFill>
                  <a:srgbClr val="172637"/>
                </a:solidFill>
                <a:latin typeface="Arial"/>
                <a:ea typeface="Arial"/>
                <a:cs typeface="Arial"/>
                <a:sym typeface="Arial"/>
              </a:rPr>
              <a:t>Reference-star calibration</a:t>
            </a:r>
            <a:endParaRPr b="1" i="0" sz="1600" u="none" cap="none" strike="noStrike">
              <a:solidFill>
                <a:srgbClr val="17263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49"/>
          <p:cNvSpPr/>
          <p:nvPr/>
        </p:nvSpPr>
        <p:spPr>
          <a:xfrm>
            <a:off x="314325" y="914400"/>
            <a:ext cx="8382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" sz="1350" u="none" cap="none" strike="noStrike">
                <a:solidFill>
                  <a:srgbClr val="526579"/>
                </a:solidFill>
                <a:latin typeface="Arial"/>
                <a:ea typeface="Arial"/>
                <a:cs typeface="Arial"/>
                <a:sym typeface="Arial"/>
              </a:rPr>
              <a:t>HIP 68245 observation − simulated star image</a:t>
            </a:r>
            <a:endParaRPr b="0" i="0" sz="1100" u="none" cap="none" strike="noStrike">
              <a:solidFill>
                <a:srgbClr val="52657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49"/>
          <p:cNvSpPr/>
          <p:nvPr/>
        </p:nvSpPr>
        <p:spPr>
          <a:xfrm>
            <a:off x="428625" y="1524000"/>
            <a:ext cx="2667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176E79"/>
                </a:solidFill>
                <a:latin typeface="Arial"/>
                <a:ea typeface="Arial"/>
                <a:cs typeface="Arial"/>
                <a:sym typeface="Arial"/>
              </a:rPr>
              <a:t>Before calibration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49"/>
          <p:cNvSpPr/>
          <p:nvPr/>
        </p:nvSpPr>
        <p:spPr>
          <a:xfrm>
            <a:off x="3686175" y="1524000"/>
            <a:ext cx="2952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176E79"/>
                </a:solidFill>
                <a:latin typeface="Arial"/>
                <a:ea typeface="Arial"/>
                <a:cs typeface="Arial"/>
                <a:sym typeface="Arial"/>
              </a:rPr>
              <a:t>Saved calibration result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49"/>
          <p:cNvSpPr/>
          <p:nvPr/>
        </p:nvSpPr>
        <p:spPr>
          <a:xfrm>
            <a:off x="428625" y="1819275"/>
            <a:ext cx="24765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526579"/>
                </a:solidFill>
                <a:latin typeface="Arial"/>
                <a:ea typeface="Arial"/>
                <a:cs typeface="Arial"/>
                <a:sym typeface="Arial"/>
              </a:rPr>
              <a:t>Iteration 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49"/>
          <p:cNvSpPr/>
          <p:nvPr/>
        </p:nvSpPr>
        <p:spPr>
          <a:xfrm>
            <a:off x="3686175" y="1819275"/>
            <a:ext cx="24765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526579"/>
                </a:solidFill>
                <a:latin typeface="Arial"/>
                <a:ea typeface="Arial"/>
                <a:cs typeface="Arial"/>
                <a:sym typeface="Arial"/>
              </a:rPr>
              <a:t>Iteration 3,000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4" name="Google Shape;274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625" y="2133600"/>
            <a:ext cx="2190750" cy="219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49"/>
          <p:cNvPicPr preferRelativeResize="0"/>
          <p:nvPr/>
        </p:nvPicPr>
        <p:blipFill rotWithShape="1">
          <a:blip r:embed="rId4">
            <a:alphaModFix/>
          </a:blip>
          <a:srcRect b="0" l="0" r="50000" t="4000"/>
          <a:stretch/>
        </p:blipFill>
        <p:spPr>
          <a:xfrm>
            <a:off x="3353753" y="2133600"/>
            <a:ext cx="3042761" cy="2434209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49"/>
          <p:cNvSpPr/>
          <p:nvPr/>
        </p:nvSpPr>
        <p:spPr>
          <a:xfrm>
            <a:off x="314325" y="4781550"/>
            <a:ext cx="64293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647487"/>
                </a:solidFill>
                <a:latin typeface="Arial"/>
                <a:ea typeface="Arial"/>
                <a:cs typeface="Arial"/>
                <a:sym typeface="Arial"/>
              </a:rPr>
              <a:t>Saved reference: iteration 3,000. Calibration continues to 5,499.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49"/>
          <p:cNvSpPr/>
          <p:nvPr/>
        </p:nvSpPr>
        <p:spPr>
          <a:xfrm>
            <a:off x="2189775" y="57000"/>
            <a:ext cx="6540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49"/>
          <p:cNvSpPr/>
          <p:nvPr/>
        </p:nvSpPr>
        <p:spPr>
          <a:xfrm>
            <a:off x="314325" y="142875"/>
            <a:ext cx="6191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647487"/>
                </a:solidFill>
                <a:latin typeface="Arial"/>
                <a:ea typeface="Arial"/>
                <a:cs typeface="Arial"/>
                <a:sym typeface="Arial"/>
              </a:rPr>
              <a:t>FLIP Reproduction for HIP 65426 b</a:t>
            </a:r>
            <a:endParaRPr/>
          </a:p>
        </p:txBody>
      </p:sp>
      <p:sp>
        <p:nvSpPr>
          <p:cNvPr id="279" name="Google Shape;279;p49"/>
          <p:cNvSpPr/>
          <p:nvPr/>
        </p:nvSpPr>
        <p:spPr>
          <a:xfrm>
            <a:off x="7029450" y="1552575"/>
            <a:ext cx="19716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75" u="none" cap="none" strike="noStrike">
                <a:solidFill>
                  <a:srgbClr val="176E79"/>
                </a:solidFill>
                <a:latin typeface="Arial"/>
                <a:ea typeface="Arial"/>
                <a:cs typeface="Arial"/>
                <a:sym typeface="Arial"/>
              </a:rPr>
              <a:t>Calibration</a:t>
            </a:r>
            <a:endParaRPr/>
          </a:p>
        </p:txBody>
      </p:sp>
      <p:sp>
        <p:nvSpPr>
          <p:cNvPr id="280" name="Google Shape;280;p49"/>
          <p:cNvSpPr/>
          <p:nvPr/>
        </p:nvSpPr>
        <p:spPr>
          <a:xfrm>
            <a:off x="7029450" y="19145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72637"/>
                </a:solidFill>
                <a:latin typeface="Arial"/>
                <a:ea typeface="Arial"/>
                <a:cs typeface="Arial"/>
                <a:sym typeface="Arial"/>
              </a:rPr>
              <a:t>Match the reference star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72637"/>
                </a:solidFill>
                <a:latin typeface="Arial"/>
                <a:ea typeface="Arial"/>
                <a:cs typeface="Arial"/>
                <a:sym typeface="Arial"/>
              </a:rPr>
              <a:t>Position, flux, and optics</a:t>
            </a:r>
            <a:endParaRPr/>
          </a:p>
        </p:txBody>
      </p:sp>
      <p:sp>
        <p:nvSpPr>
          <p:cNvPr id="281" name="Google Shape;281;p49"/>
          <p:cNvSpPr/>
          <p:nvPr/>
        </p:nvSpPr>
        <p:spPr>
          <a:xfrm>
            <a:off x="7686675" y="2447925"/>
            <a:ext cx="171450" cy="20955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A9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49"/>
          <p:cNvSpPr/>
          <p:nvPr/>
        </p:nvSpPr>
        <p:spPr>
          <a:xfrm>
            <a:off x="7029450" y="2714625"/>
            <a:ext cx="19716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75">
                <a:solidFill>
                  <a:srgbClr val="7B8792"/>
                </a:solidFill>
              </a:rPr>
              <a:t>Target-</a:t>
            </a:r>
            <a:r>
              <a:rPr b="0" i="0" lang="en" sz="1875" u="none" cap="none" strike="noStrike">
                <a:solidFill>
                  <a:srgbClr val="7B8792"/>
                </a:solidFill>
                <a:latin typeface="Arial"/>
                <a:ea typeface="Arial"/>
                <a:cs typeface="Arial"/>
                <a:sym typeface="Arial"/>
              </a:rPr>
              <a:t>Fitting</a:t>
            </a:r>
            <a:endParaRPr/>
          </a:p>
        </p:txBody>
      </p:sp>
      <p:sp>
        <p:nvSpPr>
          <p:cNvPr id="283" name="Google Shape;283;p49"/>
          <p:cNvSpPr/>
          <p:nvPr/>
        </p:nvSpPr>
        <p:spPr>
          <a:xfrm>
            <a:off x="7029450" y="307657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647487"/>
                </a:solidFill>
                <a:latin typeface="Arial"/>
                <a:ea typeface="Arial"/>
                <a:cs typeface="Arial"/>
                <a:sym typeface="Arial"/>
              </a:rPr>
              <a:t>Carry over the model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647487"/>
                </a:solidFill>
                <a:latin typeface="Arial"/>
                <a:ea typeface="Arial"/>
                <a:cs typeface="Arial"/>
                <a:sym typeface="Arial"/>
              </a:rPr>
              <a:t>Fit the science target</a:t>
            </a:r>
            <a:endParaRPr/>
          </a:p>
        </p:txBody>
      </p:sp>
      <p:sp>
        <p:nvSpPr>
          <p:cNvPr id="284" name="Google Shape;284;p49"/>
          <p:cNvSpPr/>
          <p:nvPr/>
        </p:nvSpPr>
        <p:spPr>
          <a:xfrm>
            <a:off x="7686675" y="3609975"/>
            <a:ext cx="171450" cy="20955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A9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49"/>
          <p:cNvSpPr/>
          <p:nvPr/>
        </p:nvSpPr>
        <p:spPr>
          <a:xfrm>
            <a:off x="7029450" y="3876675"/>
            <a:ext cx="19716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75" u="none" cap="none" strike="noStrike">
                <a:solidFill>
                  <a:srgbClr val="7B8792"/>
                </a:solidFill>
                <a:latin typeface="Arial"/>
                <a:ea typeface="Arial"/>
                <a:cs typeface="Arial"/>
                <a:sym typeface="Arial"/>
              </a:rPr>
              <a:t>Diagnostic</a:t>
            </a:r>
            <a:endParaRPr/>
          </a:p>
        </p:txBody>
      </p:sp>
      <p:sp>
        <p:nvSpPr>
          <p:cNvPr id="286" name="Google Shape;286;p49"/>
          <p:cNvSpPr/>
          <p:nvPr/>
        </p:nvSpPr>
        <p:spPr>
          <a:xfrm>
            <a:off x="7029450" y="42386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647487"/>
                </a:solidFill>
                <a:latin typeface="Arial"/>
                <a:ea typeface="Arial"/>
                <a:cs typeface="Arial"/>
                <a:sym typeface="Arial"/>
              </a:rPr>
              <a:t>Measure planet recovery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647487"/>
                </a:solidFill>
                <a:latin typeface="Arial"/>
                <a:ea typeface="Arial"/>
                <a:cs typeface="Arial"/>
                <a:sym typeface="Arial"/>
              </a:rPr>
              <a:t>Compare signal with noise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50"/>
          <p:cNvSpPr/>
          <p:nvPr/>
        </p:nvSpPr>
        <p:spPr>
          <a:xfrm>
            <a:off x="304800" y="466725"/>
            <a:ext cx="83820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en" sz="2250" u="none" cap="none" strike="noStrike">
                <a:solidFill>
                  <a:srgbClr val="172637"/>
                </a:solidFill>
                <a:latin typeface="Arial"/>
                <a:ea typeface="Arial"/>
                <a:cs typeface="Arial"/>
                <a:sym typeface="Arial"/>
              </a:rPr>
              <a:t>Science-target fitting</a:t>
            </a:r>
            <a:endParaRPr b="1" i="0" sz="1100" u="none" cap="none" strike="noStrike">
              <a:solidFill>
                <a:srgbClr val="17263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50"/>
          <p:cNvSpPr/>
          <p:nvPr/>
        </p:nvSpPr>
        <p:spPr>
          <a:xfrm>
            <a:off x="314325" y="914400"/>
            <a:ext cx="8382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" sz="1350" u="none" cap="none" strike="noStrike">
                <a:solidFill>
                  <a:srgbClr val="526579"/>
                </a:solidFill>
                <a:latin typeface="Arial"/>
                <a:ea typeface="Arial"/>
                <a:cs typeface="Arial"/>
                <a:sym typeface="Arial"/>
              </a:rPr>
              <a:t>HIP 65426 + injected planet − updated star model</a:t>
            </a:r>
            <a:endParaRPr b="0" i="0" sz="1100" u="none" cap="none" strike="noStrike">
              <a:solidFill>
                <a:srgbClr val="52657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50"/>
          <p:cNvSpPr/>
          <p:nvPr/>
        </p:nvSpPr>
        <p:spPr>
          <a:xfrm>
            <a:off x="266700" y="1692497"/>
            <a:ext cx="1628775" cy="228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" sz="1350" u="none" cap="none" strike="noStrike">
                <a:solidFill>
                  <a:srgbClr val="176E79"/>
                </a:solidFill>
                <a:latin typeface="Arial"/>
                <a:ea typeface="Arial"/>
                <a:cs typeface="Arial"/>
                <a:sym typeface="Arial"/>
              </a:rPr>
              <a:t>Iteration 6,000</a:t>
            </a:r>
            <a:endParaRPr b="1" i="0" sz="1100" u="none" cap="none" strike="noStrike">
              <a:solidFill>
                <a:srgbClr val="176E7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50"/>
          <p:cNvSpPr/>
          <p:nvPr/>
        </p:nvSpPr>
        <p:spPr>
          <a:xfrm>
            <a:off x="2340674" y="1692497"/>
            <a:ext cx="1628775" cy="228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" sz="1350" u="none" cap="none" strike="noStrike">
                <a:solidFill>
                  <a:srgbClr val="176E79"/>
                </a:solidFill>
                <a:latin typeface="Arial"/>
                <a:ea typeface="Arial"/>
                <a:cs typeface="Arial"/>
                <a:sym typeface="Arial"/>
              </a:rPr>
              <a:t>Iteration 9,000</a:t>
            </a:r>
            <a:endParaRPr b="1" i="0" sz="1100" u="none" cap="none" strike="noStrike">
              <a:solidFill>
                <a:srgbClr val="176E7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50"/>
          <p:cNvSpPr/>
          <p:nvPr/>
        </p:nvSpPr>
        <p:spPr>
          <a:xfrm>
            <a:off x="4414647" y="1692497"/>
            <a:ext cx="2171700" cy="228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" sz="1350" u="none" cap="none" strike="noStrike">
                <a:solidFill>
                  <a:srgbClr val="176E79"/>
                </a:solidFill>
                <a:latin typeface="Arial"/>
                <a:ea typeface="Arial"/>
                <a:cs typeface="Arial"/>
                <a:sym typeface="Arial"/>
              </a:rPr>
              <a:t>Iteration 11,000</a:t>
            </a:r>
            <a:endParaRPr b="1" i="0" sz="1100" u="none" cap="none" strike="noStrike">
              <a:solidFill>
                <a:srgbClr val="176E7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50"/>
          <p:cNvSpPr/>
          <p:nvPr/>
        </p:nvSpPr>
        <p:spPr>
          <a:xfrm>
            <a:off x="4414647" y="1909667"/>
            <a:ext cx="2063115" cy="152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52657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8" name="Google Shape;29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700" y="2143125"/>
            <a:ext cx="1628775" cy="162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40674" y="2143125"/>
            <a:ext cx="1628775" cy="162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50"/>
          <p:cNvPicPr preferRelativeResize="0"/>
          <p:nvPr/>
        </p:nvPicPr>
        <p:blipFill rotWithShape="1">
          <a:blip r:embed="rId5">
            <a:alphaModFix/>
          </a:blip>
          <a:srcRect b="0" l="50000" r="0" t="4000"/>
          <a:stretch/>
        </p:blipFill>
        <p:spPr>
          <a:xfrm>
            <a:off x="4183361" y="2127923"/>
            <a:ext cx="2262206" cy="1809786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50"/>
          <p:cNvSpPr/>
          <p:nvPr/>
        </p:nvSpPr>
        <p:spPr>
          <a:xfrm>
            <a:off x="266700" y="3945636"/>
            <a:ext cx="1628775" cy="293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526579"/>
                </a:solidFill>
                <a:latin typeface="Arial"/>
                <a:ea typeface="Arial"/>
                <a:cs typeface="Arial"/>
                <a:sym typeface="Arial"/>
              </a:rPr>
              <a:t>Early science fitting</a:t>
            </a:r>
            <a:endParaRPr b="0" i="0" sz="1100" u="none" cap="none" strike="noStrike">
              <a:solidFill>
                <a:srgbClr val="52657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50"/>
          <p:cNvSpPr/>
          <p:nvPr/>
        </p:nvSpPr>
        <p:spPr>
          <a:xfrm>
            <a:off x="2340674" y="3945636"/>
            <a:ext cx="1628775" cy="293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526579"/>
                </a:solidFill>
                <a:latin typeface="Arial"/>
                <a:ea typeface="Arial"/>
                <a:cs typeface="Arial"/>
                <a:sym typeface="Arial"/>
              </a:rPr>
              <a:t>Later science fitting</a:t>
            </a:r>
            <a:endParaRPr b="0" i="0" sz="1100" u="none" cap="none" strike="noStrike">
              <a:solidFill>
                <a:srgbClr val="52657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50"/>
          <p:cNvSpPr/>
          <p:nvPr/>
        </p:nvSpPr>
        <p:spPr>
          <a:xfrm>
            <a:off x="314325" y="4781550"/>
            <a:ext cx="6477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647487"/>
                </a:solidFill>
                <a:latin typeface="Arial"/>
                <a:ea typeface="Arial"/>
                <a:cs typeface="Arial"/>
                <a:sym typeface="Arial"/>
              </a:rPr>
              <a:t>The residual includes HIP 65426 b and the injected planet.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50"/>
          <p:cNvSpPr/>
          <p:nvPr/>
        </p:nvSpPr>
        <p:spPr>
          <a:xfrm rot="-3267739">
            <a:off x="4825041" y="2944164"/>
            <a:ext cx="262818" cy="87756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50"/>
          <p:cNvSpPr/>
          <p:nvPr/>
        </p:nvSpPr>
        <p:spPr>
          <a:xfrm rot="-3267739">
            <a:off x="5369106" y="2988928"/>
            <a:ext cx="262818" cy="87756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50"/>
          <p:cNvSpPr/>
          <p:nvPr/>
        </p:nvSpPr>
        <p:spPr>
          <a:xfrm>
            <a:off x="4578779" y="3040547"/>
            <a:ext cx="645468" cy="34287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65426b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50"/>
          <p:cNvSpPr/>
          <p:nvPr/>
        </p:nvSpPr>
        <p:spPr>
          <a:xfrm>
            <a:off x="5138519" y="3112994"/>
            <a:ext cx="738720" cy="34287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Injected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50"/>
          <p:cNvSpPr/>
          <p:nvPr/>
        </p:nvSpPr>
        <p:spPr>
          <a:xfrm>
            <a:off x="314325" y="142875"/>
            <a:ext cx="6191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647487"/>
                </a:solidFill>
                <a:latin typeface="Arial"/>
                <a:ea typeface="Arial"/>
                <a:cs typeface="Arial"/>
                <a:sym typeface="Arial"/>
              </a:rPr>
              <a:t>FLIP Reproduction for HIP 65426 b</a:t>
            </a:r>
            <a:endParaRPr/>
          </a:p>
        </p:txBody>
      </p:sp>
      <p:sp>
        <p:nvSpPr>
          <p:cNvPr id="309" name="Google Shape;309;p50"/>
          <p:cNvSpPr/>
          <p:nvPr/>
        </p:nvSpPr>
        <p:spPr>
          <a:xfrm>
            <a:off x="7029450" y="1552575"/>
            <a:ext cx="19716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75" u="none" cap="none" strike="noStrike">
                <a:solidFill>
                  <a:srgbClr val="7B8792"/>
                </a:solidFill>
                <a:latin typeface="Arial"/>
                <a:ea typeface="Arial"/>
                <a:cs typeface="Arial"/>
                <a:sym typeface="Arial"/>
              </a:rPr>
              <a:t>Calibration</a:t>
            </a:r>
            <a:endParaRPr/>
          </a:p>
        </p:txBody>
      </p:sp>
      <p:sp>
        <p:nvSpPr>
          <p:cNvPr id="310" name="Google Shape;310;p50"/>
          <p:cNvSpPr/>
          <p:nvPr/>
        </p:nvSpPr>
        <p:spPr>
          <a:xfrm>
            <a:off x="7029450" y="19145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647487"/>
                </a:solidFill>
                <a:latin typeface="Arial"/>
                <a:ea typeface="Arial"/>
                <a:cs typeface="Arial"/>
                <a:sym typeface="Arial"/>
              </a:rPr>
              <a:t>Match the reference star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647487"/>
                </a:solidFill>
                <a:latin typeface="Arial"/>
                <a:ea typeface="Arial"/>
                <a:cs typeface="Arial"/>
                <a:sym typeface="Arial"/>
              </a:rPr>
              <a:t>Position, flux, and optics</a:t>
            </a:r>
            <a:endParaRPr/>
          </a:p>
        </p:txBody>
      </p:sp>
      <p:sp>
        <p:nvSpPr>
          <p:cNvPr id="311" name="Google Shape;311;p50"/>
          <p:cNvSpPr/>
          <p:nvPr/>
        </p:nvSpPr>
        <p:spPr>
          <a:xfrm>
            <a:off x="7686675" y="2447925"/>
            <a:ext cx="171450" cy="20955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A9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50"/>
          <p:cNvSpPr/>
          <p:nvPr/>
        </p:nvSpPr>
        <p:spPr>
          <a:xfrm>
            <a:off x="7029450" y="2714625"/>
            <a:ext cx="19716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75">
                <a:solidFill>
                  <a:srgbClr val="176E79"/>
                </a:solidFill>
              </a:rPr>
              <a:t>Target-</a:t>
            </a:r>
            <a:r>
              <a:rPr b="1" i="0" lang="en" sz="1875" u="none" cap="none" strike="noStrike">
                <a:solidFill>
                  <a:srgbClr val="176E79"/>
                </a:solidFill>
                <a:latin typeface="Arial"/>
                <a:ea typeface="Arial"/>
                <a:cs typeface="Arial"/>
                <a:sym typeface="Arial"/>
              </a:rPr>
              <a:t>Fitting</a:t>
            </a:r>
            <a:endParaRPr/>
          </a:p>
        </p:txBody>
      </p:sp>
      <p:sp>
        <p:nvSpPr>
          <p:cNvPr id="313" name="Google Shape;313;p50"/>
          <p:cNvSpPr/>
          <p:nvPr/>
        </p:nvSpPr>
        <p:spPr>
          <a:xfrm>
            <a:off x="7029450" y="307657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72637"/>
                </a:solidFill>
                <a:latin typeface="Arial"/>
                <a:ea typeface="Arial"/>
                <a:cs typeface="Arial"/>
                <a:sym typeface="Arial"/>
              </a:rPr>
              <a:t>Carry over the model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72637"/>
                </a:solidFill>
                <a:latin typeface="Arial"/>
                <a:ea typeface="Arial"/>
                <a:cs typeface="Arial"/>
                <a:sym typeface="Arial"/>
              </a:rPr>
              <a:t>Fit the science target</a:t>
            </a:r>
            <a:endParaRPr/>
          </a:p>
        </p:txBody>
      </p:sp>
      <p:sp>
        <p:nvSpPr>
          <p:cNvPr id="314" name="Google Shape;314;p50"/>
          <p:cNvSpPr/>
          <p:nvPr/>
        </p:nvSpPr>
        <p:spPr>
          <a:xfrm>
            <a:off x="7686675" y="3609975"/>
            <a:ext cx="171450" cy="20955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A9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50"/>
          <p:cNvSpPr/>
          <p:nvPr/>
        </p:nvSpPr>
        <p:spPr>
          <a:xfrm>
            <a:off x="7029450" y="3876675"/>
            <a:ext cx="19716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75" u="none" cap="none" strike="noStrike">
                <a:solidFill>
                  <a:srgbClr val="7B8792"/>
                </a:solidFill>
                <a:latin typeface="Arial"/>
                <a:ea typeface="Arial"/>
                <a:cs typeface="Arial"/>
                <a:sym typeface="Arial"/>
              </a:rPr>
              <a:t>Diagnostic</a:t>
            </a:r>
            <a:endParaRPr/>
          </a:p>
        </p:txBody>
      </p:sp>
      <p:sp>
        <p:nvSpPr>
          <p:cNvPr id="316" name="Google Shape;316;p50"/>
          <p:cNvSpPr/>
          <p:nvPr/>
        </p:nvSpPr>
        <p:spPr>
          <a:xfrm>
            <a:off x="7029450" y="42386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647487"/>
                </a:solidFill>
                <a:latin typeface="Arial"/>
                <a:ea typeface="Arial"/>
                <a:cs typeface="Arial"/>
                <a:sym typeface="Arial"/>
              </a:rPr>
              <a:t>Measure planet recovery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647487"/>
                </a:solidFill>
                <a:latin typeface="Arial"/>
                <a:ea typeface="Arial"/>
                <a:cs typeface="Arial"/>
                <a:sym typeface="Arial"/>
              </a:rPr>
              <a:t>Compare signal with noise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51"/>
          <p:cNvSpPr/>
          <p:nvPr/>
        </p:nvSpPr>
        <p:spPr>
          <a:xfrm>
            <a:off x="304800" y="466725"/>
            <a:ext cx="83820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en" sz="2250" u="none" cap="none" strike="noStrike">
                <a:solidFill>
                  <a:srgbClr val="172637"/>
                </a:solidFill>
                <a:latin typeface="Arial"/>
                <a:ea typeface="Arial"/>
                <a:cs typeface="Arial"/>
                <a:sym typeface="Arial"/>
              </a:rPr>
              <a:t>Planet-recovery diagnostic at iteration 10,800</a:t>
            </a:r>
            <a:endParaRPr b="1" i="0" sz="1100" u="none" cap="none" strike="noStrike">
              <a:solidFill>
                <a:srgbClr val="17263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51"/>
          <p:cNvSpPr/>
          <p:nvPr/>
        </p:nvSpPr>
        <p:spPr>
          <a:xfrm>
            <a:off x="314325" y="914400"/>
            <a:ext cx="8382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" sz="1350" u="none" cap="none" strike="noStrike">
                <a:solidFill>
                  <a:srgbClr val="526579"/>
                </a:solidFill>
                <a:latin typeface="Arial"/>
                <a:ea typeface="Arial"/>
                <a:cs typeface="Arial"/>
                <a:sym typeface="Arial"/>
              </a:rPr>
              <a:t>The last saved diagnostic before the 11,000-iteration stop</a:t>
            </a:r>
            <a:endParaRPr b="0" i="0" sz="1100" u="none" cap="none" strike="noStrike">
              <a:solidFill>
                <a:srgbClr val="52657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4" name="Google Shape;324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500" y="1238250"/>
            <a:ext cx="5715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51"/>
          <p:cNvSpPr/>
          <p:nvPr/>
        </p:nvSpPr>
        <p:spPr>
          <a:xfrm>
            <a:off x="5219127" y="1680700"/>
            <a:ext cx="2586000" cy="7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51"/>
          <p:cNvSpPr/>
          <p:nvPr/>
        </p:nvSpPr>
        <p:spPr>
          <a:xfrm>
            <a:off x="6529388" y="3493363"/>
            <a:ext cx="22146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51"/>
          <p:cNvSpPr/>
          <p:nvPr/>
        </p:nvSpPr>
        <p:spPr>
          <a:xfrm>
            <a:off x="314325" y="142875"/>
            <a:ext cx="6191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647487"/>
                </a:solidFill>
                <a:latin typeface="Arial"/>
                <a:ea typeface="Arial"/>
                <a:cs typeface="Arial"/>
                <a:sym typeface="Arial"/>
              </a:rPr>
              <a:t>FLIP Reproduction for HIP 65426 b</a:t>
            </a:r>
            <a:endParaRPr/>
          </a:p>
        </p:txBody>
      </p:sp>
      <p:sp>
        <p:nvSpPr>
          <p:cNvPr id="328" name="Google Shape;328;p51"/>
          <p:cNvSpPr/>
          <p:nvPr/>
        </p:nvSpPr>
        <p:spPr>
          <a:xfrm>
            <a:off x="7029450" y="1552575"/>
            <a:ext cx="19716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75" u="none" cap="none" strike="noStrike">
                <a:solidFill>
                  <a:srgbClr val="7B8792"/>
                </a:solidFill>
                <a:latin typeface="Arial"/>
                <a:ea typeface="Arial"/>
                <a:cs typeface="Arial"/>
                <a:sym typeface="Arial"/>
              </a:rPr>
              <a:t>Calibration</a:t>
            </a:r>
            <a:endParaRPr/>
          </a:p>
        </p:txBody>
      </p:sp>
      <p:sp>
        <p:nvSpPr>
          <p:cNvPr id="329" name="Google Shape;329;p51"/>
          <p:cNvSpPr/>
          <p:nvPr/>
        </p:nvSpPr>
        <p:spPr>
          <a:xfrm>
            <a:off x="7029450" y="19145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647487"/>
                </a:solidFill>
                <a:latin typeface="Arial"/>
                <a:ea typeface="Arial"/>
                <a:cs typeface="Arial"/>
                <a:sym typeface="Arial"/>
              </a:rPr>
              <a:t>Match the reference star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647487"/>
                </a:solidFill>
                <a:latin typeface="Arial"/>
                <a:ea typeface="Arial"/>
                <a:cs typeface="Arial"/>
                <a:sym typeface="Arial"/>
              </a:rPr>
              <a:t>Position, flux, and optics</a:t>
            </a:r>
            <a:endParaRPr/>
          </a:p>
        </p:txBody>
      </p:sp>
      <p:sp>
        <p:nvSpPr>
          <p:cNvPr id="330" name="Google Shape;330;p51"/>
          <p:cNvSpPr/>
          <p:nvPr/>
        </p:nvSpPr>
        <p:spPr>
          <a:xfrm>
            <a:off x="7686675" y="2447925"/>
            <a:ext cx="171450" cy="20955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A9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51"/>
          <p:cNvSpPr/>
          <p:nvPr/>
        </p:nvSpPr>
        <p:spPr>
          <a:xfrm>
            <a:off x="7029450" y="2714625"/>
            <a:ext cx="19716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75">
                <a:solidFill>
                  <a:srgbClr val="7B8792"/>
                </a:solidFill>
              </a:rPr>
              <a:t>Target-</a:t>
            </a:r>
            <a:r>
              <a:rPr b="0" i="0" lang="en" sz="1875" u="none" cap="none" strike="noStrike">
                <a:solidFill>
                  <a:srgbClr val="7B8792"/>
                </a:solidFill>
                <a:latin typeface="Arial"/>
                <a:ea typeface="Arial"/>
                <a:cs typeface="Arial"/>
                <a:sym typeface="Arial"/>
              </a:rPr>
              <a:t>Fitting</a:t>
            </a:r>
            <a:endParaRPr/>
          </a:p>
        </p:txBody>
      </p:sp>
      <p:sp>
        <p:nvSpPr>
          <p:cNvPr id="332" name="Google Shape;332;p51"/>
          <p:cNvSpPr/>
          <p:nvPr/>
        </p:nvSpPr>
        <p:spPr>
          <a:xfrm>
            <a:off x="7029450" y="307657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647487"/>
                </a:solidFill>
                <a:latin typeface="Arial"/>
                <a:ea typeface="Arial"/>
                <a:cs typeface="Arial"/>
                <a:sym typeface="Arial"/>
              </a:rPr>
              <a:t>Carry over the model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647487"/>
                </a:solidFill>
                <a:latin typeface="Arial"/>
                <a:ea typeface="Arial"/>
                <a:cs typeface="Arial"/>
                <a:sym typeface="Arial"/>
              </a:rPr>
              <a:t>Fit the science target</a:t>
            </a:r>
            <a:endParaRPr/>
          </a:p>
        </p:txBody>
      </p:sp>
      <p:sp>
        <p:nvSpPr>
          <p:cNvPr id="333" name="Google Shape;333;p51"/>
          <p:cNvSpPr/>
          <p:nvPr/>
        </p:nvSpPr>
        <p:spPr>
          <a:xfrm>
            <a:off x="7686675" y="3609975"/>
            <a:ext cx="171450" cy="20955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A9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51"/>
          <p:cNvSpPr/>
          <p:nvPr/>
        </p:nvSpPr>
        <p:spPr>
          <a:xfrm>
            <a:off x="7029450" y="3876675"/>
            <a:ext cx="19716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75" u="none" cap="none" strike="noStrike">
                <a:solidFill>
                  <a:srgbClr val="176E79"/>
                </a:solidFill>
                <a:latin typeface="Arial"/>
                <a:ea typeface="Arial"/>
                <a:cs typeface="Arial"/>
                <a:sym typeface="Arial"/>
              </a:rPr>
              <a:t>Diagnostic</a:t>
            </a:r>
            <a:endParaRPr/>
          </a:p>
        </p:txBody>
      </p:sp>
      <p:sp>
        <p:nvSpPr>
          <p:cNvPr id="335" name="Google Shape;335;p51"/>
          <p:cNvSpPr/>
          <p:nvPr/>
        </p:nvSpPr>
        <p:spPr>
          <a:xfrm>
            <a:off x="7029450" y="42386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72637"/>
                </a:solidFill>
                <a:latin typeface="Arial"/>
                <a:ea typeface="Arial"/>
                <a:cs typeface="Arial"/>
                <a:sym typeface="Arial"/>
              </a:rPr>
              <a:t>Measure planet recovery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72637"/>
                </a:solidFill>
                <a:latin typeface="Arial"/>
                <a:ea typeface="Arial"/>
                <a:cs typeface="Arial"/>
                <a:sym typeface="Arial"/>
              </a:rPr>
              <a:t>Compare signal with noise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52"/>
          <p:cNvSpPr/>
          <p:nvPr/>
        </p:nvSpPr>
        <p:spPr>
          <a:xfrm>
            <a:off x="400050" y="257175"/>
            <a:ext cx="8343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72637"/>
                </a:solidFill>
                <a:latin typeface="Arial"/>
                <a:ea typeface="Arial"/>
                <a:cs typeface="Arial"/>
                <a:sym typeface="Arial"/>
              </a:rPr>
              <a:t>Iteration metrics</a:t>
            </a:r>
            <a:endParaRPr sz="1100"/>
          </a:p>
        </p:txBody>
      </p:sp>
      <p:sp>
        <p:nvSpPr>
          <p:cNvPr id="342" name="Google Shape;342;p52"/>
          <p:cNvSpPr/>
          <p:nvPr/>
        </p:nvSpPr>
        <p:spPr>
          <a:xfrm>
            <a:off x="414338" y="792956"/>
            <a:ext cx="82867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526579"/>
                </a:solidFill>
                <a:latin typeface="Arial"/>
                <a:ea typeface="Arial"/>
                <a:cs typeface="Arial"/>
                <a:sym typeface="Arial"/>
              </a:rPr>
              <a:t>18 saved samples from iteration 5,700 to 10,800</a:t>
            </a:r>
            <a:endParaRPr sz="1100"/>
          </a:p>
        </p:txBody>
      </p:sp>
      <p:pic>
        <p:nvPicPr>
          <p:cNvPr id="343" name="Google Shape;343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4350" y="1135848"/>
            <a:ext cx="6000749" cy="3818658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52"/>
          <p:cNvSpPr txBox="1"/>
          <p:nvPr/>
        </p:nvSpPr>
        <p:spPr>
          <a:xfrm>
            <a:off x="6415100" y="2814450"/>
            <a:ext cx="2749500" cy="8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Max SNR with value about 68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10/26 Todos</a:t>
            </a:r>
            <a:endParaRPr/>
          </a:p>
        </p:txBody>
      </p:sp>
      <p:sp>
        <p:nvSpPr>
          <p:cNvPr id="350" name="Google Shape;350;p53"/>
          <p:cNvSpPr txBox="1"/>
          <p:nvPr>
            <p:ph idx="1" type="body"/>
          </p:nvPr>
        </p:nvSpPr>
        <p:spPr>
          <a:xfrm>
            <a:off x="311700" y="14863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Investigate the SNR gap and try to recover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Reproduced result (67.7) vs reported value in paper (130.1)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Run the other three cases in the paper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51 Eridani b (F410M) / 51 Eridani b (F430M) / TYC 5899 (injected)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Reproduce the value reported in the paper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Deepen understanding of MIRI coronagraphy &amp; code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Begin adapting the code for MIRI 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10/26 Todos</a:t>
            </a:r>
            <a:endParaRPr/>
          </a:p>
        </p:txBody>
      </p:sp>
      <p:sp>
        <p:nvSpPr>
          <p:cNvPr id="356" name="Google Shape;356;p5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get target image from Rodrigo to try to reproduce the MIRI results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figure out specifically what we need to change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diagrams/visualizations of what is happening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changing the MIRI OPD after the mask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NIRCam OPD vs MIRI OPD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pixel size difference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