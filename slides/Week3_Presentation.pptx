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Helvetica Neue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bold.fntdata"/><Relationship Id="rId11" Type="http://schemas.openxmlformats.org/officeDocument/2006/relationships/slide" Target="slides/slide5.xml"/><Relationship Id="rId22" Type="http://schemas.openxmlformats.org/officeDocument/2006/relationships/font" Target="fonts/HelveticaNeue-boldItalic.fntdata"/><Relationship Id="rId10" Type="http://schemas.openxmlformats.org/officeDocument/2006/relationships/slide" Target="slides/slide4.xml"/><Relationship Id="rId21" Type="http://schemas.openxmlformats.org/officeDocument/2006/relationships/font" Target="fonts/HelveticaNeue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HelveticaNeue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h4de62375cc02779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h4de62375cc02779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h3d7cf9e491c35308_2_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" name="Google Shape;81;h3d7cf9e491c35308_2_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h3d7cf9e491c35308_2_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3d7cf9e491c35308_2_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h3d7cf9e491c35308_2_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h3d7cf9e491c35308_2_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h6f2ae083827a579e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h6f2ae083827a579e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h37550627752cf31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h37550627752cf31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h4c281d6aeaf934a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h4c281d6aeaf934a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h6f2ae083827a579e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h6f2ae083827a579e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h6f2ae083827a579e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h6f2ae083827a579e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h7001c0fe482fccc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h7001c0fe482fccc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h7001c0fe482fccc1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h7001c0fe482fccc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h6f2ae083827a579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h6f2ae083827a579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5"/>
          <p:cNvSpPr txBox="1"/>
          <p:nvPr>
            <p:ph type="title"/>
          </p:nvPr>
        </p:nvSpPr>
        <p:spPr>
          <a:xfrm>
            <a:off x="914400" y="1943100"/>
            <a:ext cx="73152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5"/>
          <p:cNvSpPr txBox="1"/>
          <p:nvPr>
            <p:ph idx="1" type="subTitle"/>
          </p:nvPr>
        </p:nvSpPr>
        <p:spPr>
          <a:xfrm>
            <a:off x="1371600" y="2828925"/>
            <a:ext cx="6400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6"/>
          <p:cNvSpPr txBox="1"/>
          <p:nvPr>
            <p:ph type="title"/>
          </p:nvPr>
        </p:nvSpPr>
        <p:spPr>
          <a:xfrm>
            <a:off x="914400" y="2143125"/>
            <a:ext cx="7315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7"/>
          <p:cNvSpPr txBox="1"/>
          <p:nvPr>
            <p:ph type="title"/>
          </p:nvPr>
        </p:nvSpPr>
        <p:spPr>
          <a:xfrm>
            <a:off x="514350" y="400050"/>
            <a:ext cx="81153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17"/>
          <p:cNvSpPr txBox="1"/>
          <p:nvPr>
            <p:ph idx="1" type="body"/>
          </p:nvPr>
        </p:nvSpPr>
        <p:spPr>
          <a:xfrm>
            <a:off x="514350" y="1428750"/>
            <a:ext cx="81153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655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6550" lvl="2" marL="1371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6550" lvl="3" marL="18288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6550" lvl="4" marL="22860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6550" lvl="5" marL="27432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6550" lvl="6" marL="32004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6550" lvl="7" marL="3657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6550" lvl="8" marL="4114800" marR="0" rtl="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">
  <p:cSld name="Title and Two Column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8"/>
          <p:cNvSpPr txBox="1"/>
          <p:nvPr>
            <p:ph type="title"/>
          </p:nvPr>
        </p:nvSpPr>
        <p:spPr>
          <a:xfrm>
            <a:off x="514350" y="400050"/>
            <a:ext cx="81153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18"/>
          <p:cNvSpPr txBox="1"/>
          <p:nvPr>
            <p:ph idx="1" type="body"/>
          </p:nvPr>
        </p:nvSpPr>
        <p:spPr>
          <a:xfrm>
            <a:off x="514350" y="1428750"/>
            <a:ext cx="37719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0200" lvl="6" marL="32004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0200" lvl="7" marL="3657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0200" lvl="8" marL="4114800" marR="0" rtl="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18"/>
          <p:cNvSpPr txBox="1"/>
          <p:nvPr>
            <p:ph idx="2" type="body"/>
          </p:nvPr>
        </p:nvSpPr>
        <p:spPr>
          <a:xfrm>
            <a:off x="4857750" y="1428750"/>
            <a:ext cx="37719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0200" lvl="6" marL="32004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0200" lvl="7" marL="3657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0200" lvl="8" marL="4114800" marR="0" rtl="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One Column">
  <p:cSld name="Title and One Column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9"/>
          <p:cNvSpPr txBox="1"/>
          <p:nvPr>
            <p:ph type="title"/>
          </p:nvPr>
        </p:nvSpPr>
        <p:spPr>
          <a:xfrm>
            <a:off x="514350" y="400050"/>
            <a:ext cx="81153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b="1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19"/>
          <p:cNvSpPr txBox="1"/>
          <p:nvPr>
            <p:ph idx="1" type="body"/>
          </p:nvPr>
        </p:nvSpPr>
        <p:spPr>
          <a:xfrm>
            <a:off x="514350" y="1428750"/>
            <a:ext cx="37719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655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6550" lvl="2" marL="1371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6550" lvl="3" marL="18288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6550" lvl="4" marL="22860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6550" lvl="5" marL="27432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6550" lvl="6" marL="32004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6550" lvl="7" marL="36576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6550" lvl="8" marL="4114800" marR="0" rtl="0" algn="l">
              <a:lnSpc>
                <a:spcPct val="110000"/>
              </a:lnSpc>
              <a:spcBef>
                <a:spcPts val="900"/>
              </a:spcBef>
              <a:spcAft>
                <a:spcPts val="900"/>
              </a:spcAft>
              <a:buClr>
                <a:schemeClr val="dk1"/>
              </a:buClr>
              <a:buSzPts val="17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17.png"/><Relationship Id="rId5" Type="http://schemas.openxmlformats.org/officeDocument/2006/relationships/image" Target="../media/image14.png"/><Relationship Id="rId6" Type="http://schemas.openxmlformats.org/officeDocument/2006/relationships/image" Target="../media/image16.png"/><Relationship Id="rId7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10/30 Presentation</a:t>
            </a:r>
            <a:endParaRPr/>
          </a:p>
        </p:txBody>
      </p:sp>
      <p:sp>
        <p:nvSpPr>
          <p:cNvPr id="72" name="Google Shape;72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Yuxin, Zhengfei, Fangyue, Vivian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78" name="Google Shape;7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Completed: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PSF (NIRCam (STPSF) VS NIRCam (FLIP))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PSF (MIRI (STPSF)) 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PSF (MIRI (HIP 68425+HIP 65426))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Todo: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PSF (MIRI (FLIP))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2"/>
          <p:cNvSpPr/>
          <p:nvPr/>
        </p:nvSpPr>
        <p:spPr>
          <a:xfrm>
            <a:off x="371475" y="271463"/>
            <a:ext cx="8401050" cy="4643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182C3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FLIP and STPSF PSF comparison</a:t>
            </a:r>
            <a:endParaRPr sz="1100"/>
          </a:p>
        </p:txBody>
      </p:sp>
      <p:sp>
        <p:nvSpPr>
          <p:cNvPr id="85" name="Google Shape;85;p22"/>
          <p:cNvSpPr/>
          <p:nvPr/>
        </p:nvSpPr>
        <p:spPr>
          <a:xfrm>
            <a:off x="385763" y="828675"/>
            <a:ext cx="8358188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7F7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NIRCam F444W with MASK335R and CIRCLYOT</a:t>
            </a:r>
            <a:endParaRPr sz="1100"/>
          </a:p>
        </p:txBody>
      </p:sp>
      <p:sp>
        <p:nvSpPr>
          <p:cNvPr id="86" name="Google Shape;86;p22"/>
          <p:cNvSpPr/>
          <p:nvPr/>
        </p:nvSpPr>
        <p:spPr>
          <a:xfrm>
            <a:off x="385763" y="1150144"/>
            <a:ext cx="8358188" cy="2643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53667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21 wavelength samples    </a:t>
            </a:r>
            <a:r>
              <a:rPr lang="en" sz="1300">
                <a:solidFill>
                  <a:srgbClr val="53667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1024 x 1024 input grid 	 </a:t>
            </a:r>
            <a:r>
              <a:rPr b="0" lang="en" sz="1300">
                <a:solidFill>
                  <a:srgbClr val="53667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80 × 80 detector pixels    2× oversampling</a:t>
            </a:r>
            <a:endParaRPr sz="1100"/>
          </a:p>
        </p:txBody>
      </p:sp>
      <p:pic>
        <p:nvPicPr>
          <p:cNvPr id="87" name="Google Shape;8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0" y="1536457"/>
            <a:ext cx="8458200" cy="24849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22"/>
          <p:cNvSpPr/>
          <p:nvPr/>
        </p:nvSpPr>
        <p:spPr>
          <a:xfrm>
            <a:off x="385763" y="4214813"/>
            <a:ext cx="835818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82C3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PSF shape similarity r = 0.883. A structured residual remains.</a:t>
            </a:r>
            <a:endParaRPr sz="1100"/>
          </a:p>
        </p:txBody>
      </p:sp>
      <p:sp>
        <p:nvSpPr>
          <p:cNvPr id="89" name="Google Shape;89;p22"/>
          <p:cNvSpPr/>
          <p:nvPr/>
        </p:nvSpPr>
        <p:spPr>
          <a:xfrm>
            <a:off x="385763" y="4536281"/>
            <a:ext cx="835818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53667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PSFs: unit total intensity and shared log scale. Residual: FLIP − STPSF on a linear scale.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3"/>
          <p:cNvSpPr/>
          <p:nvPr/>
        </p:nvSpPr>
        <p:spPr>
          <a:xfrm>
            <a:off x="371475" y="271463"/>
            <a:ext cx="8401050" cy="4643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182C3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Optical component checks</a:t>
            </a:r>
            <a:endParaRPr sz="1100"/>
          </a:p>
        </p:txBody>
      </p:sp>
      <p:sp>
        <p:nvSpPr>
          <p:cNvPr id="96" name="Google Shape;96;p23"/>
          <p:cNvSpPr/>
          <p:nvPr/>
        </p:nvSpPr>
        <p:spPr>
          <a:xfrm>
            <a:off x="342900" y="800100"/>
            <a:ext cx="2714625" cy="2428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7F7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Aperture</a:t>
            </a:r>
            <a:endParaRPr sz="1100"/>
          </a:p>
        </p:txBody>
      </p:sp>
      <p:sp>
        <p:nvSpPr>
          <p:cNvPr id="97" name="Google Shape;97;p23"/>
          <p:cNvSpPr/>
          <p:nvPr/>
        </p:nvSpPr>
        <p:spPr>
          <a:xfrm>
            <a:off x="3200400" y="800100"/>
            <a:ext cx="2714625" cy="2428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7F7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Telescope OPD</a:t>
            </a:r>
            <a:endParaRPr sz="1100"/>
          </a:p>
        </p:txBody>
      </p:sp>
      <p:sp>
        <p:nvSpPr>
          <p:cNvPr id="98" name="Google Shape;98;p23"/>
          <p:cNvSpPr/>
          <p:nvPr/>
        </p:nvSpPr>
        <p:spPr>
          <a:xfrm>
            <a:off x="6057900" y="800100"/>
            <a:ext cx="2743200" cy="2428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7F7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Focal-plane mask</a:t>
            </a:r>
            <a:endParaRPr sz="1100"/>
          </a:p>
        </p:txBody>
      </p:sp>
      <p:pic>
        <p:nvPicPr>
          <p:cNvPr id="99" name="Google Shape;9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5647" y="1092994"/>
            <a:ext cx="2649132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16878" y="1092994"/>
            <a:ext cx="2681670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13694" y="1092994"/>
            <a:ext cx="2603036" cy="1114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3"/>
          <p:cNvSpPr/>
          <p:nvPr/>
        </p:nvSpPr>
        <p:spPr>
          <a:xfrm>
            <a:off x="342900" y="2250281"/>
            <a:ext cx="2771775" cy="2428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82C3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Shape similarity r = 1.000</a:t>
            </a:r>
            <a:endParaRPr sz="1100"/>
          </a:p>
        </p:txBody>
      </p:sp>
      <p:sp>
        <p:nvSpPr>
          <p:cNvPr id="103" name="Google Shape;103;p23"/>
          <p:cNvSpPr/>
          <p:nvPr/>
        </p:nvSpPr>
        <p:spPr>
          <a:xfrm>
            <a:off x="3200400" y="2250281"/>
            <a:ext cx="2771775" cy="2428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82C3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Shape similarity r = 1.000</a:t>
            </a:r>
            <a:endParaRPr sz="1100"/>
          </a:p>
        </p:txBody>
      </p:sp>
      <p:sp>
        <p:nvSpPr>
          <p:cNvPr id="104" name="Google Shape;104;p23"/>
          <p:cNvSpPr/>
          <p:nvPr/>
        </p:nvSpPr>
        <p:spPr>
          <a:xfrm>
            <a:off x="6057900" y="2250281"/>
            <a:ext cx="2771775" cy="2428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82C3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Shape similarity r = 1.000</a:t>
            </a:r>
            <a:endParaRPr sz="1100"/>
          </a:p>
        </p:txBody>
      </p:sp>
      <p:sp>
        <p:nvSpPr>
          <p:cNvPr id="105" name="Google Shape;105;p23"/>
          <p:cNvSpPr/>
          <p:nvPr/>
        </p:nvSpPr>
        <p:spPr>
          <a:xfrm>
            <a:off x="371475" y="2500313"/>
            <a:ext cx="4143375" cy="2428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7F7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Lyot stop (CIRCLYOT)</a:t>
            </a:r>
            <a:endParaRPr sz="1100"/>
          </a:p>
        </p:txBody>
      </p:sp>
      <p:sp>
        <p:nvSpPr>
          <p:cNvPr id="106" name="Google Shape;106;p23"/>
          <p:cNvSpPr/>
          <p:nvPr/>
        </p:nvSpPr>
        <p:spPr>
          <a:xfrm>
            <a:off x="4743450" y="2500313"/>
            <a:ext cx="4029075" cy="2428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7F7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Internal OPD at 4.455 μm</a:t>
            </a:r>
            <a:endParaRPr sz="1100"/>
          </a:p>
        </p:txBody>
      </p:sp>
      <p:pic>
        <p:nvPicPr>
          <p:cNvPr id="107" name="Google Shape;107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2026" y="2814638"/>
            <a:ext cx="3973698" cy="1671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97732" y="2814638"/>
            <a:ext cx="4006236" cy="1671638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3"/>
          <p:cNvSpPr/>
          <p:nvPr/>
        </p:nvSpPr>
        <p:spPr>
          <a:xfrm>
            <a:off x="385763" y="4643438"/>
            <a:ext cx="4143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82C3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Shape similarity r = 0.799</a:t>
            </a:r>
            <a:endParaRPr sz="1100"/>
          </a:p>
        </p:txBody>
      </p:sp>
      <p:sp>
        <p:nvSpPr>
          <p:cNvPr id="110" name="Google Shape;110;p23"/>
          <p:cNvSpPr/>
          <p:nvPr/>
        </p:nvSpPr>
        <p:spPr>
          <a:xfrm>
            <a:off x="4757738" y="4643438"/>
            <a:ext cx="4029075" cy="2428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82C3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Shape similarity r = 0.817</a:t>
            </a:r>
            <a:endParaRPr sz="1100"/>
          </a:p>
        </p:txBody>
      </p:sp>
      <p:sp>
        <p:nvSpPr>
          <p:cNvPr id="111" name="Google Shape;111;p23"/>
          <p:cNvSpPr/>
          <p:nvPr/>
        </p:nvSpPr>
        <p:spPr>
          <a:xfrm>
            <a:off x="385763" y="4907756"/>
            <a:ext cx="8358188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53667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Pearson correlation r: 1 means the same pattern. Values round to three decimals.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Simulating MIRI PSF with STPSF</a:t>
            </a:r>
            <a:endParaRPr/>
          </a:p>
        </p:txBody>
      </p:sp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Filter: F1140C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Image mask: FQPM1140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Pupil mask: MASKFQPM</a:t>
            </a:r>
            <a:endParaRPr sz="1600"/>
          </a:p>
        </p:txBody>
      </p:sp>
      <p:sp>
        <p:nvSpPr>
          <p:cNvPr id="118" name="Google Shape;118;p24"/>
          <p:cNvSpPr txBox="1"/>
          <p:nvPr>
            <p:ph idx="1" type="body"/>
          </p:nvPr>
        </p:nvSpPr>
        <p:spPr>
          <a:xfrm>
            <a:off x="45720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Filter: F1550C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Image mask: </a:t>
            </a:r>
            <a:r>
              <a:rPr lang="en" sz="1600"/>
              <a:t>FQPM1550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Pupil mask: </a:t>
            </a:r>
            <a:r>
              <a:rPr lang="en" sz="1600"/>
              <a:t>MASKFQPM</a:t>
            </a:r>
            <a:endParaRPr sz="1600"/>
          </a:p>
        </p:txBody>
      </p:sp>
      <p:pic>
        <p:nvPicPr>
          <p:cNvPr id="119" name="Google Shape;119;p24" title="MIRI_F1140C_PSF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135352"/>
            <a:ext cx="3480602" cy="3008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4" title="MIRI_F1550C_PSF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2135352"/>
            <a:ext cx="3480602" cy="30081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Simulating MIRI PSF with STPSF</a:t>
            </a:r>
            <a:endParaRPr/>
          </a:p>
        </p:txBody>
      </p:sp>
      <p:sp>
        <p:nvSpPr>
          <p:cNvPr id="126" name="Google Shape;126;p25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Filter: F1065C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Image mask: FQPM1065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Pupil mask: MASKFQPM</a:t>
            </a:r>
            <a:endParaRPr sz="1600"/>
          </a:p>
        </p:txBody>
      </p:sp>
      <p:pic>
        <p:nvPicPr>
          <p:cNvPr id="127" name="Google Shape;127;p25" title="MIRI_F1065C_PSF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135350"/>
            <a:ext cx="3480607" cy="300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5" title="MIRI_F2300C_PSF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2135350"/>
            <a:ext cx="3480627" cy="300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5"/>
          <p:cNvSpPr txBox="1"/>
          <p:nvPr>
            <p:ph idx="1" type="body"/>
          </p:nvPr>
        </p:nvSpPr>
        <p:spPr>
          <a:xfrm>
            <a:off x="45720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Filter: F2300C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Image mask: LYOT2300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Pupil mask: MASKLYOT</a:t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Simulating MIRI PSF with STPSF</a:t>
            </a:r>
            <a:endParaRPr/>
          </a:p>
        </p:txBody>
      </p:sp>
      <p:grpSp>
        <p:nvGrpSpPr>
          <p:cNvPr id="135" name="Google Shape;135;p26"/>
          <p:cNvGrpSpPr/>
          <p:nvPr/>
        </p:nvGrpSpPr>
        <p:grpSpPr>
          <a:xfrm>
            <a:off x="1634450" y="1227934"/>
            <a:ext cx="1877385" cy="3083125"/>
            <a:chOff x="0" y="1612125"/>
            <a:chExt cx="2151977" cy="3534073"/>
          </a:xfrm>
        </p:grpSpPr>
        <p:pic>
          <p:nvPicPr>
            <p:cNvPr id="136" name="Google Shape;136;p26" title="Screenshot 2026-10-30 at 08.19.28.png"/>
            <p:cNvPicPr preferRelativeResize="0"/>
            <p:nvPr/>
          </p:nvPicPr>
          <p:blipFill rotWithShape="1">
            <a:blip r:embed="rId3">
              <a:alphaModFix/>
            </a:blip>
            <a:srcRect b="0" l="0" r="73365" t="0"/>
            <a:stretch/>
          </p:blipFill>
          <p:spPr>
            <a:xfrm>
              <a:off x="40125" y="1612125"/>
              <a:ext cx="1754575" cy="1699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7" name="Google Shape;137;p26" title="MIRI_Coronagraphic_PSFs_Combined-2.png"/>
            <p:cNvPicPr preferRelativeResize="0"/>
            <p:nvPr/>
          </p:nvPicPr>
          <p:blipFill rotWithShape="1">
            <a:blip r:embed="rId4">
              <a:alphaModFix/>
            </a:blip>
            <a:srcRect b="46712" l="0" r="51480" t="6943"/>
            <a:stretch/>
          </p:blipFill>
          <p:spPr>
            <a:xfrm>
              <a:off x="0" y="3311375"/>
              <a:ext cx="2151977" cy="183482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8" name="Google Shape;138;p26"/>
          <p:cNvGrpSpPr/>
          <p:nvPr/>
        </p:nvGrpSpPr>
        <p:grpSpPr>
          <a:xfrm>
            <a:off x="5389220" y="1227934"/>
            <a:ext cx="1877385" cy="3083125"/>
            <a:chOff x="4435325" y="1612125"/>
            <a:chExt cx="2151977" cy="3534073"/>
          </a:xfrm>
        </p:grpSpPr>
        <p:pic>
          <p:nvPicPr>
            <p:cNvPr id="139" name="Google Shape;139;p26" title="MIRI_Coronagraphic_PSFs_Combined-2.png"/>
            <p:cNvPicPr preferRelativeResize="0"/>
            <p:nvPr/>
          </p:nvPicPr>
          <p:blipFill rotWithShape="1">
            <a:blip r:embed="rId4">
              <a:alphaModFix/>
            </a:blip>
            <a:srcRect b="0" l="0" r="51480" t="53652"/>
            <a:stretch/>
          </p:blipFill>
          <p:spPr>
            <a:xfrm>
              <a:off x="4435325" y="3311375"/>
              <a:ext cx="2151977" cy="18348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0" name="Google Shape;140;p26" title="Screenshot 2026-10-30 at 08.19.28.png"/>
            <p:cNvPicPr preferRelativeResize="0"/>
            <p:nvPr/>
          </p:nvPicPr>
          <p:blipFill rotWithShape="1">
            <a:blip r:embed="rId3">
              <a:alphaModFix/>
            </a:blip>
            <a:srcRect b="0" l="51141" r="24354" t="0"/>
            <a:stretch/>
          </p:blipFill>
          <p:spPr>
            <a:xfrm>
              <a:off x="4615800" y="1612125"/>
              <a:ext cx="1614250" cy="16992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1" name="Google Shape;141;p26"/>
          <p:cNvGrpSpPr/>
          <p:nvPr/>
        </p:nvGrpSpPr>
        <p:grpSpPr>
          <a:xfrm>
            <a:off x="7266614" y="1227934"/>
            <a:ext cx="1877385" cy="3083125"/>
            <a:chOff x="6992025" y="1612125"/>
            <a:chExt cx="2151977" cy="3534073"/>
          </a:xfrm>
        </p:grpSpPr>
        <p:pic>
          <p:nvPicPr>
            <p:cNvPr id="142" name="Google Shape;142;p26" title="Screenshot 2026-10-30 at 08.19.28.png"/>
            <p:cNvPicPr preferRelativeResize="0"/>
            <p:nvPr/>
          </p:nvPicPr>
          <p:blipFill rotWithShape="1">
            <a:blip r:embed="rId3">
              <a:alphaModFix/>
            </a:blip>
            <a:srcRect b="0" l="75494" r="0" t="0"/>
            <a:stretch/>
          </p:blipFill>
          <p:spPr>
            <a:xfrm>
              <a:off x="7218051" y="1612125"/>
              <a:ext cx="1614250" cy="1699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" name="Google Shape;143;p26" title="MIRI_Coronagraphic_PSFs_Combined-2.png"/>
            <p:cNvPicPr preferRelativeResize="0"/>
            <p:nvPr/>
          </p:nvPicPr>
          <p:blipFill rotWithShape="1">
            <a:blip r:embed="rId4">
              <a:alphaModFix/>
            </a:blip>
            <a:srcRect b="0" l="51480" r="0" t="53652"/>
            <a:stretch/>
          </p:blipFill>
          <p:spPr>
            <a:xfrm>
              <a:off x="6992025" y="3311375"/>
              <a:ext cx="2151977" cy="183482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4" name="Google Shape;144;p26"/>
          <p:cNvGrpSpPr/>
          <p:nvPr/>
        </p:nvGrpSpPr>
        <p:grpSpPr>
          <a:xfrm>
            <a:off x="3511827" y="1227934"/>
            <a:ext cx="1877385" cy="3083125"/>
            <a:chOff x="2307888" y="1612125"/>
            <a:chExt cx="2151977" cy="3534073"/>
          </a:xfrm>
        </p:grpSpPr>
        <p:pic>
          <p:nvPicPr>
            <p:cNvPr id="145" name="Google Shape;145;p26" title="Screenshot 2026-10-30 at 08.19.28.png"/>
            <p:cNvPicPr preferRelativeResize="0"/>
            <p:nvPr/>
          </p:nvPicPr>
          <p:blipFill rotWithShape="1">
            <a:blip r:embed="rId3">
              <a:alphaModFix/>
            </a:blip>
            <a:srcRect b="0" l="26637" r="48858" t="0"/>
            <a:stretch/>
          </p:blipFill>
          <p:spPr>
            <a:xfrm>
              <a:off x="2576763" y="1612125"/>
              <a:ext cx="1614250" cy="1699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" name="Google Shape;146;p26" title="MIRI_Coronagraphic_PSFs_Combined-2.png"/>
            <p:cNvPicPr preferRelativeResize="0"/>
            <p:nvPr/>
          </p:nvPicPr>
          <p:blipFill rotWithShape="1">
            <a:blip r:embed="rId4">
              <a:alphaModFix/>
            </a:blip>
            <a:srcRect b="46072" l="51480" r="0" t="7582"/>
            <a:stretch/>
          </p:blipFill>
          <p:spPr>
            <a:xfrm>
              <a:off x="2307888" y="3311375"/>
              <a:ext cx="2151977" cy="18348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7" name="Google Shape;147;p26"/>
          <p:cNvSpPr txBox="1"/>
          <p:nvPr/>
        </p:nvSpPr>
        <p:spPr>
          <a:xfrm>
            <a:off x="156600" y="1582725"/>
            <a:ext cx="1564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Real Observations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8" name="Google Shape;148;p26"/>
          <p:cNvSpPr txBox="1"/>
          <p:nvPr/>
        </p:nvSpPr>
        <p:spPr>
          <a:xfrm>
            <a:off x="156600" y="3128775"/>
            <a:ext cx="1564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STPSF Simulation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9" name="Google Shape;149;p26"/>
          <p:cNvSpPr txBox="1"/>
          <p:nvPr/>
        </p:nvSpPr>
        <p:spPr>
          <a:xfrm>
            <a:off x="2359325" y="4357700"/>
            <a:ext cx="221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HD 158165 (K5V)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0" name="Google Shape;150;p26"/>
          <p:cNvSpPr txBox="1"/>
          <p:nvPr/>
        </p:nvSpPr>
        <p:spPr>
          <a:xfrm>
            <a:off x="6095600" y="4357700"/>
            <a:ext cx="221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HD 163113 (K0V)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1" name="Google Shape;151;p26"/>
          <p:cNvSpPr txBox="1"/>
          <p:nvPr/>
        </p:nvSpPr>
        <p:spPr>
          <a:xfrm>
            <a:off x="0" y="2191375"/>
            <a:ext cx="187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(Boccaletti et al., 2022)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7"/>
          <p:cNvSpPr txBox="1"/>
          <p:nvPr>
            <p:ph type="title"/>
          </p:nvPr>
        </p:nvSpPr>
        <p:spPr>
          <a:xfrm>
            <a:off x="311700" y="181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STPSF MIRI F1140C coronagraph mask</a:t>
            </a:r>
            <a:endParaRPr/>
          </a:p>
        </p:txBody>
      </p:sp>
      <p:sp>
        <p:nvSpPr>
          <p:cNvPr id="157" name="Google Shape;157;p27"/>
          <p:cNvSpPr txBox="1"/>
          <p:nvPr>
            <p:ph idx="1" type="body"/>
          </p:nvPr>
        </p:nvSpPr>
        <p:spPr>
          <a:xfrm>
            <a:off x="726825" y="7545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Filter:</a:t>
            </a:r>
            <a:r>
              <a:rPr lang="en" sz="1400">
                <a:solidFill>
                  <a:schemeClr val="dk1"/>
                </a:solidFill>
              </a:rPr>
              <a:t> F1140C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Image mask:</a:t>
            </a:r>
            <a:r>
              <a:rPr lang="en" sz="1400">
                <a:solidFill>
                  <a:schemeClr val="dk1"/>
                </a:solidFill>
              </a:rPr>
              <a:t> FQPM1140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Pupil mask / Lyot stop:</a:t>
            </a:r>
            <a:r>
              <a:rPr lang="en" sz="1400">
                <a:solidFill>
                  <a:schemeClr val="dk1"/>
                </a:solidFill>
              </a:rPr>
              <a:t> MASKFQPM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Monochromatic wavelength:</a:t>
            </a:r>
            <a:r>
              <a:rPr lang="en" sz="1400">
                <a:solidFill>
                  <a:schemeClr val="dk1"/>
                </a:solidFill>
              </a:rPr>
              <a:t> 11.3169 μm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Complex transmission:</a:t>
            </a:r>
            <a:r>
              <a:rPr lang="en" sz="1400">
                <a:solidFill>
                  <a:schemeClr val="dk1"/>
                </a:solidFill>
              </a:rPr>
              <a:t> amplitude, real part, and phase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8" name="Google Shape;15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775" y="2571749"/>
            <a:ext cx="8434452" cy="256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8"/>
          <p:cNvSpPr txBox="1"/>
          <p:nvPr>
            <p:ph type="title"/>
          </p:nvPr>
        </p:nvSpPr>
        <p:spPr>
          <a:xfrm>
            <a:off x="311700" y="232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MIRI Coronagraph: STPSF and FLIP Comparison</a:t>
            </a:r>
            <a:endParaRPr/>
          </a:p>
        </p:txBody>
      </p:sp>
      <p:sp>
        <p:nvSpPr>
          <p:cNvPr id="164" name="Google Shape;164;p28"/>
          <p:cNvSpPr txBox="1"/>
          <p:nvPr>
            <p:ph idx="1" type="body"/>
          </p:nvPr>
        </p:nvSpPr>
        <p:spPr>
          <a:xfrm>
            <a:off x="775275" y="8051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FLIP forward model vs. STPSF OVERSAMP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Configuration:</a:t>
            </a:r>
            <a:r>
              <a:rPr lang="en" sz="1400">
                <a:solidFill>
                  <a:schemeClr val="dk1"/>
                </a:solidFill>
              </a:rPr>
              <a:t> F1140C / FQPM1140 / MASKFQPM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Wavelength:</a:t>
            </a:r>
            <a:r>
              <a:rPr lang="en" sz="1400">
                <a:solidFill>
                  <a:schemeClr val="dk1"/>
                </a:solidFill>
              </a:rPr>
              <a:t> 11.3169 μm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Image size:</a:t>
            </a:r>
            <a:r>
              <a:rPr lang="en" sz="1400">
                <a:solidFill>
                  <a:schemeClr val="dk1"/>
                </a:solidFill>
              </a:rPr>
              <a:t> 434 × 434 oversampled pixels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Single-wavelength simulation; no optimization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5" name="Google Shape;16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738" y="2860985"/>
            <a:ext cx="8468774" cy="22825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9"/>
          <p:cNvSpPr txBox="1"/>
          <p:nvPr>
            <p:ph type="title"/>
          </p:nvPr>
        </p:nvSpPr>
        <p:spPr>
          <a:xfrm>
            <a:off x="311700" y="181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</a:t>
            </a:r>
            <a:r>
              <a:rPr lang="en"/>
              <a:t>PSF &amp; FLIP (MIRI – HIP 65426)</a:t>
            </a:r>
            <a:endParaRPr/>
          </a:p>
        </p:txBody>
      </p:sp>
      <p:sp>
        <p:nvSpPr>
          <p:cNvPr id="171" name="Google Shape;171;p29"/>
          <p:cNvSpPr txBox="1"/>
          <p:nvPr/>
        </p:nvSpPr>
        <p:spPr>
          <a:xfrm>
            <a:off x="391725" y="754525"/>
            <a:ext cx="30000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Filter: F1140C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Focal-plane mask: FQPM1140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Lyot stop: MASKFQPM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Detector: MIRIM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Aperture: MIRIM_CORON1140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72" name="Google Shape;17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938325"/>
            <a:ext cx="8839204" cy="2650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00" y="1055113"/>
            <a:ext cx="2782726" cy="1286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30"/>
          <p:cNvPicPr preferRelativeResize="0"/>
          <p:nvPr/>
        </p:nvPicPr>
        <p:blipFill rotWithShape="1">
          <a:blip r:embed="rId4">
            <a:alphaModFix/>
          </a:blip>
          <a:srcRect b="-24595" l="0" r="-24595" t="0"/>
          <a:stretch/>
        </p:blipFill>
        <p:spPr>
          <a:xfrm>
            <a:off x="2957675" y="1055113"/>
            <a:ext cx="3668399" cy="1678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30"/>
          <p:cNvPicPr preferRelativeResize="0"/>
          <p:nvPr/>
        </p:nvPicPr>
        <p:blipFill rotWithShape="1">
          <a:blip r:embed="rId5">
            <a:alphaModFix/>
          </a:blip>
          <a:srcRect b="-9029" l="-2980" r="-8627" t="-2578"/>
          <a:stretch/>
        </p:blipFill>
        <p:spPr>
          <a:xfrm>
            <a:off x="6036775" y="1021038"/>
            <a:ext cx="3193091" cy="147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0150" y="2867613"/>
            <a:ext cx="4301848" cy="1989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24399" y="2885989"/>
            <a:ext cx="4267203" cy="1952462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30"/>
          <p:cNvSpPr/>
          <p:nvPr/>
        </p:nvSpPr>
        <p:spPr>
          <a:xfrm>
            <a:off x="223680" y="757521"/>
            <a:ext cx="27147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7F7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Aperture</a:t>
            </a:r>
            <a:endParaRPr sz="1100"/>
          </a:p>
        </p:txBody>
      </p:sp>
      <p:sp>
        <p:nvSpPr>
          <p:cNvPr id="183" name="Google Shape;183;p30"/>
          <p:cNvSpPr/>
          <p:nvPr/>
        </p:nvSpPr>
        <p:spPr>
          <a:xfrm>
            <a:off x="3081180" y="757521"/>
            <a:ext cx="27147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7F7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Telescope OPD</a:t>
            </a:r>
            <a:endParaRPr sz="1100"/>
          </a:p>
        </p:txBody>
      </p:sp>
      <p:sp>
        <p:nvSpPr>
          <p:cNvPr id="184" name="Google Shape;184;p30"/>
          <p:cNvSpPr/>
          <p:nvPr/>
        </p:nvSpPr>
        <p:spPr>
          <a:xfrm>
            <a:off x="5938680" y="757521"/>
            <a:ext cx="27432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7F7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Focal-plane mask</a:t>
            </a:r>
            <a:endParaRPr sz="1100"/>
          </a:p>
        </p:txBody>
      </p:sp>
      <p:sp>
        <p:nvSpPr>
          <p:cNvPr id="185" name="Google Shape;185;p30"/>
          <p:cNvSpPr/>
          <p:nvPr/>
        </p:nvSpPr>
        <p:spPr>
          <a:xfrm>
            <a:off x="371475" y="2576954"/>
            <a:ext cx="41433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7F7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Lyot stop (</a:t>
            </a:r>
            <a:r>
              <a:rPr b="1" lang="en" sz="1500">
                <a:solidFill>
                  <a:srgbClr val="007F7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MASKFQPM</a:t>
            </a:r>
            <a:r>
              <a:rPr b="1" lang="en" sz="1500">
                <a:solidFill>
                  <a:srgbClr val="007F7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1100"/>
          </a:p>
        </p:txBody>
      </p:sp>
      <p:sp>
        <p:nvSpPr>
          <p:cNvPr id="186" name="Google Shape;186;p30"/>
          <p:cNvSpPr/>
          <p:nvPr/>
        </p:nvSpPr>
        <p:spPr>
          <a:xfrm>
            <a:off x="4743450" y="2576954"/>
            <a:ext cx="40290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7F7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Internal OPD at 11.4 μm</a:t>
            </a:r>
            <a:endParaRPr sz="1100"/>
          </a:p>
        </p:txBody>
      </p:sp>
      <p:sp>
        <p:nvSpPr>
          <p:cNvPr id="187" name="Google Shape;187;p30"/>
          <p:cNvSpPr/>
          <p:nvPr/>
        </p:nvSpPr>
        <p:spPr>
          <a:xfrm>
            <a:off x="371475" y="271463"/>
            <a:ext cx="8401200" cy="4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182C3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Optical component checks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</a:t>
            </a:r>
            <a:endParaRPr/>
          </a:p>
        </p:txBody>
      </p:sp>
      <p:sp>
        <p:nvSpPr>
          <p:cNvPr id="193" name="Google Shape;193;p31"/>
          <p:cNvSpPr txBox="1"/>
          <p:nvPr>
            <p:ph idx="1" type="body"/>
          </p:nvPr>
        </p:nvSpPr>
        <p:spPr>
          <a:xfrm>
            <a:off x="311700" y="1152475"/>
            <a:ext cx="85206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Why do we flip the OPD for FLIP?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broadband, which source spectrum and number of wavelength samples should we use? Should the comparison use OVERSAMP or detector-sampled PSFs?</a:t>
            </a:r>
            <a:endParaRPr/>
          </a:p>
        </p:txBody>
      </p:sp>
      <p:sp>
        <p:nvSpPr>
          <p:cNvPr id="194" name="Google Shape;194;p31"/>
          <p:cNvSpPr txBox="1"/>
          <p:nvPr/>
        </p:nvSpPr>
        <p:spPr>
          <a:xfrm>
            <a:off x="377750" y="2706525"/>
            <a:ext cx="1791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Todo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95" name="Google Shape;195;p31"/>
          <p:cNvSpPr txBox="1"/>
          <p:nvPr/>
        </p:nvSpPr>
        <p:spPr>
          <a:xfrm>
            <a:off x="377750" y="3448375"/>
            <a:ext cx="8454600" cy="10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Run the full optimization for Miri !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