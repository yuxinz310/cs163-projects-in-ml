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E8C2E4F-91F4-4105-A6DA-C825A2FC9E27}">
  <a:tblStyle styleId="{0E8C2E4F-91F4-4105-A6DA-C825A2FC9E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7f5a19dc88cd4c7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7f5a19dc88cd4c7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7f5a19dc88cd4c71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7f5a19dc88cd4c71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7f5a19dc88cd4c71_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7f5a19dc88cd4c71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326dc8d274dcd04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326dc8d274dcd04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326dc8d274dcd04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326dc8d274dcd04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326dc8d274dcd04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326dc8d274dcd04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2f46c2bf778e33a1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2f46c2bf778e33a1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2f46c2bf778e33a1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2f46c2bf778e33a1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2f46c2bf778e33a1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2f46c2bf778e33a1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2f46c2bf778e33a1_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2f46c2bf778e33a1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2f46c2bf778e33a1_2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2f46c2bf778e33a1_2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f46c2bf778e33a1_2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2f46c2bf778e33a1_2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2f46c2bf778e33a1_1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2f46c2bf778e33a1_1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7f5a19dc88cd4c71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7f5a19dc88cd4c71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2f46c2bf778e33a1_1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h2f46c2bf778e33a1_1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h2f46c2bf778e33a1_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h2f46c2bf778e33a1_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2f46c2bf778e33a1_1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2f46c2bf778e33a1_1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2f46c2bf778e33a1_4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2f46c2bf778e33a1_4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2f46c2bf778e33a1_4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2f46c2bf778e33a1_4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2f46c2bf778e33a1_8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h2f46c2bf778e33a1_8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200"/>
              <a:t>Source run: /Users/yuxinzhang/Desktop/simulation_20261016_031552/N1/1.0x10_-6_err_1.0_off_0.6_0.3_shot_noise_1.0. Selected original outputs: losses.png, vis_est_res_init.png, vis_est_res_1000.png. Metrics read directly from quality.npy: initial residual PSNR -16.1051724 dB, initial SSIM -0.0019793748; final residual PSNR 17.7330735 dB, final SSIM 0.897174401. The original code evaluates residual metrics on a 10x10 crop around the known planet location, relative to the reference residual including noise. These are image similarity metrics, not detection SNR. The PNG at iteration 1000 uses that loop's pre-update prediction, while final metrics are recomputed after the update. The original inclusive range runs indices 0 through 1000. The WFE error curve is an evaluation metric against the known ground truth and rises despite improved image fitting. Do not interpret the experiment as exact wavefront recovery. The script clips negative residuals and normalizes each PNG independently. Source implementation: https://github.com/brandonyfeng/EDDO/blob/main/run_JWST.py. Layout follows the white background and Arial typography of Week1_Presentation-2.pptx. Present this as a single simulated-data example, separate from the real JWST experiment.</a:t>
            </a:r>
            <a:endParaRPr/>
          </a:p>
        </p:txBody>
      </p:sp>
      <p:sp>
        <p:nvSpPr>
          <p:cNvPr id="226" name="Google Shape;226;h2f46c2bf778e33a1_80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2f46c2bf778e33a1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2f46c2bf778e33a1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2f46c2bf778e33a1_4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2f46c2bf778e33a1_4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2f46c2bf778e33a1_4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h2f46c2bf778e33a1_4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h326dc8d274dcd04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h326dc8d274dcd04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1821a532eed541fa_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1821a532eed541fa_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15"/>
          <p:cNvSpPr txBox="1"/>
          <p:nvPr>
            <p:ph type="title"/>
          </p:nvPr>
        </p:nvSpPr>
        <p:spPr>
          <a:xfrm>
            <a:off x="914400" y="1943100"/>
            <a:ext cx="7315200" cy="74295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54" name="Google Shape;54;p15"/>
          <p:cNvSpPr txBox="1"/>
          <p:nvPr>
            <p:ph idx="1" type="subTitle"/>
          </p:nvPr>
        </p:nvSpPr>
        <p:spPr>
          <a:xfrm>
            <a:off x="1371600" y="2828925"/>
            <a:ext cx="6400800" cy="5715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 name="Shape 55"/>
        <p:cNvGrpSpPr/>
        <p:nvPr/>
      </p:nvGrpSpPr>
      <p:grpSpPr>
        <a:xfrm>
          <a:off x="0" y="0"/>
          <a:ext cx="0" cy="0"/>
          <a:chOff x="0" y="0"/>
          <a:chExt cx="0" cy="0"/>
        </a:xfrm>
      </p:grpSpPr>
      <p:sp>
        <p:nvSpPr>
          <p:cNvPr id="56" name="Google Shape;56;p16"/>
          <p:cNvSpPr txBox="1"/>
          <p:nvPr>
            <p:ph type="title"/>
          </p:nvPr>
        </p:nvSpPr>
        <p:spPr>
          <a:xfrm>
            <a:off x="914400" y="2143125"/>
            <a:ext cx="7315200" cy="85725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7" name="Shape 57"/>
        <p:cNvGrpSpPr/>
        <p:nvPr/>
      </p:nvGrpSpPr>
      <p:grpSpPr>
        <a:xfrm>
          <a:off x="0" y="0"/>
          <a:ext cx="0" cy="0"/>
          <a:chOff x="0" y="0"/>
          <a:chExt cx="0" cy="0"/>
        </a:xfrm>
      </p:grpSpPr>
      <p:sp>
        <p:nvSpPr>
          <p:cNvPr id="58" name="Google Shape;58;p17"/>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59" name="Google Shape;59;p17"/>
          <p:cNvSpPr txBox="1"/>
          <p:nvPr>
            <p:ph idx="1" type="body"/>
          </p:nvPr>
        </p:nvSpPr>
        <p:spPr>
          <a:xfrm>
            <a:off x="514350" y="1428750"/>
            <a:ext cx="8115300" cy="32004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9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9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900"/>
              </a:spcBef>
              <a:spcAft>
                <a:spcPts val="9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60" name="Shape 60"/>
        <p:cNvGrpSpPr/>
        <p:nvPr/>
      </p:nvGrpSpPr>
      <p:grpSpPr>
        <a:xfrm>
          <a:off x="0" y="0"/>
          <a:ext cx="0" cy="0"/>
          <a:chOff x="0" y="0"/>
          <a:chExt cx="0" cy="0"/>
        </a:xfrm>
      </p:grpSpPr>
      <p:sp>
        <p:nvSpPr>
          <p:cNvPr id="61" name="Google Shape;61;p18"/>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62" name="Google Shape;62;p18"/>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9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9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900"/>
              </a:spcBef>
              <a:spcAft>
                <a:spcPts val="9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3" name="Google Shape;63;p18"/>
          <p:cNvSpPr txBox="1"/>
          <p:nvPr>
            <p:ph idx="2" type="body"/>
          </p:nvPr>
        </p:nvSpPr>
        <p:spPr>
          <a:xfrm>
            <a:off x="4857750" y="1428750"/>
            <a:ext cx="3771900" cy="32004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9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9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900"/>
              </a:spcBef>
              <a:spcAft>
                <a:spcPts val="9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64" name="Shape 64"/>
        <p:cNvGrpSpPr/>
        <p:nvPr/>
      </p:nvGrpSpPr>
      <p:grpSpPr>
        <a:xfrm>
          <a:off x="0" y="0"/>
          <a:ext cx="0" cy="0"/>
          <a:chOff x="0" y="0"/>
          <a:chExt cx="0" cy="0"/>
        </a:xfrm>
      </p:grpSpPr>
      <p:sp>
        <p:nvSpPr>
          <p:cNvPr id="65" name="Google Shape;65;p19"/>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66" name="Google Shape;66;p19"/>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9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9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9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900"/>
              </a:spcBef>
              <a:spcAft>
                <a:spcPts val="9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drive.google.com/file/d/1U8sX9BhwidEjr0ZzXJzbM9TRW2qhiHME/view" TargetMode="External"/><Relationship Id="rId4" Type="http://schemas.openxmlformats.org/officeDocument/2006/relationships/image" Target="../media/image4.jpg"/><Relationship Id="rId5" Type="http://schemas.openxmlformats.org/officeDocument/2006/relationships/hyperlink" Target="http://drive.google.com/file/d/1oyck8G0t0YgL46VHtx6EMv2S4jpkIxNL/view" TargetMode="External"/><Relationship Id="rId6"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CN"/>
              <a:t>10/16 Presentation</a:t>
            </a:r>
            <a:endParaRPr/>
          </a:p>
        </p:txBody>
      </p:sp>
      <p:sp>
        <p:nvSpPr>
          <p:cNvPr id="72" name="Google Shape;72;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CN"/>
              <a:t>Yuxin, Zhengfei, Fangyue, Vivian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10/09 Todos</a:t>
            </a:r>
            <a:endParaRPr/>
          </a:p>
        </p:txBody>
      </p:sp>
      <p:sp>
        <p:nvSpPr>
          <p:cNvPr id="78" name="Google Shape;7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Completed:</a:t>
            </a:r>
            <a:endParaRPr/>
          </a:p>
          <a:p>
            <a:pPr indent="-342900" lvl="0" marL="457200" rtl="0" algn="l">
              <a:spcBef>
                <a:spcPts val="1200"/>
              </a:spcBef>
              <a:spcAft>
                <a:spcPts val="0"/>
              </a:spcAft>
              <a:buSzPts val="1800"/>
              <a:buChar char="●"/>
            </a:pPr>
            <a:r>
              <a:rPr lang="zh-CN"/>
              <a:t>Read papers:</a:t>
            </a:r>
            <a:endParaRPr/>
          </a:p>
          <a:p>
            <a:pPr indent="-317500" lvl="1" marL="914400" rtl="0" algn="l">
              <a:spcBef>
                <a:spcPts val="0"/>
              </a:spcBef>
              <a:spcAft>
                <a:spcPts val="0"/>
              </a:spcAft>
              <a:buSzPts val="1400"/>
              <a:buChar char="○"/>
            </a:pPr>
            <a:r>
              <a:rPr lang="zh-CN"/>
              <a:t>TCI/EDDO paper</a:t>
            </a:r>
            <a:endParaRPr/>
          </a:p>
          <a:p>
            <a:pPr indent="-317500" lvl="1" marL="914400" rtl="0" algn="l">
              <a:spcBef>
                <a:spcPts val="0"/>
              </a:spcBef>
              <a:spcAft>
                <a:spcPts val="0"/>
              </a:spcAft>
              <a:buSzPts val="1400"/>
              <a:buChar char="○"/>
            </a:pPr>
            <a:r>
              <a:rPr lang="zh-CN"/>
              <a:t>Nature/FLIP paper</a:t>
            </a:r>
            <a:endParaRPr/>
          </a:p>
          <a:p>
            <a:pPr indent="-342900" lvl="0" marL="457200" rtl="0" algn="l">
              <a:spcBef>
                <a:spcPts val="0"/>
              </a:spcBef>
              <a:spcAft>
                <a:spcPts val="0"/>
              </a:spcAft>
              <a:buSzPts val="1800"/>
              <a:buChar char="●"/>
            </a:pPr>
            <a:r>
              <a:rPr lang="zh-CN"/>
              <a:t>download TCI/EDDO code and run examples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Outline</a:t>
            </a:r>
            <a:endParaRPr/>
          </a:p>
        </p:txBody>
      </p:sp>
      <p:sp>
        <p:nvSpPr>
          <p:cNvPr id="84" name="Google Shape;8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AutoNum type="arabicPeriod"/>
            </a:pPr>
            <a:r>
              <a:rPr lang="zh-CN"/>
              <a:t>Problem + drawback of original method (intuition)</a:t>
            </a:r>
            <a:endParaRPr/>
          </a:p>
          <a:p>
            <a:pPr indent="-310832" lvl="1" marL="914400" rtl="0" algn="l">
              <a:spcBef>
                <a:spcPts val="0"/>
              </a:spcBef>
              <a:spcAft>
                <a:spcPts val="0"/>
              </a:spcAft>
              <a:buSzPct val="100000"/>
              <a:buAutoNum type="alphaLcPeriod"/>
            </a:pPr>
            <a:r>
              <a:rPr lang="zh-CN"/>
              <a:t>modeling of JWST coronograph</a:t>
            </a:r>
            <a:endParaRPr/>
          </a:p>
          <a:p>
            <a:pPr indent="-310832" lvl="1" marL="914400" rtl="0" algn="l">
              <a:spcBef>
                <a:spcPts val="0"/>
              </a:spcBef>
              <a:spcAft>
                <a:spcPts val="0"/>
              </a:spcAft>
              <a:buSzPct val="100000"/>
              <a:buAutoNum type="alphaLcPeriod"/>
            </a:pPr>
            <a:r>
              <a:rPr lang="zh-CN"/>
              <a:t>simulating PSFs for JWST</a:t>
            </a:r>
            <a:endParaRPr/>
          </a:p>
          <a:p>
            <a:pPr indent="-334328" lvl="0" marL="457200" rtl="0" algn="l">
              <a:spcBef>
                <a:spcPts val="0"/>
              </a:spcBef>
              <a:spcAft>
                <a:spcPts val="0"/>
              </a:spcAft>
              <a:buSzPct val="100000"/>
              <a:buAutoNum type="arabicPeriod"/>
            </a:pPr>
            <a:r>
              <a:rPr lang="zh-CN"/>
              <a:t>proposed method (EDDO) </a:t>
            </a:r>
            <a:endParaRPr/>
          </a:p>
          <a:p>
            <a:pPr indent="-310832" lvl="1" marL="914400" rtl="0" algn="l">
              <a:spcBef>
                <a:spcPts val="0"/>
              </a:spcBef>
              <a:spcAft>
                <a:spcPts val="0"/>
              </a:spcAft>
              <a:buSzPct val="100000"/>
              <a:buAutoNum type="alphaLcPeriod"/>
            </a:pPr>
            <a:r>
              <a:rPr lang="zh-CN"/>
              <a:t>Physics-Based Imaging Model</a:t>
            </a:r>
            <a:endParaRPr/>
          </a:p>
          <a:p>
            <a:pPr indent="-310832" lvl="1" marL="914400" rtl="0" algn="l">
              <a:spcBef>
                <a:spcPts val="0"/>
              </a:spcBef>
              <a:spcAft>
                <a:spcPts val="0"/>
              </a:spcAft>
              <a:buSzPct val="100000"/>
              <a:buAutoNum type="alphaLcPeriod"/>
            </a:pPr>
            <a:r>
              <a:rPr lang="zh-CN"/>
              <a:t>Optimization Pipeline</a:t>
            </a:r>
            <a:endParaRPr/>
          </a:p>
          <a:p>
            <a:pPr indent="-310832" lvl="1" marL="914400" rtl="0" algn="l">
              <a:spcBef>
                <a:spcPts val="0"/>
              </a:spcBef>
              <a:spcAft>
                <a:spcPts val="0"/>
              </a:spcAft>
              <a:buSzPct val="100000"/>
              <a:buAutoNum type="alphaLcPeriod"/>
            </a:pPr>
            <a:r>
              <a:rPr lang="zh-CN"/>
              <a:t>Experiments and Findings</a:t>
            </a:r>
            <a:endParaRPr/>
          </a:p>
          <a:p>
            <a:pPr indent="-334328" lvl="0" marL="457200" rtl="0" algn="l">
              <a:spcBef>
                <a:spcPts val="0"/>
              </a:spcBef>
              <a:spcAft>
                <a:spcPts val="0"/>
              </a:spcAft>
              <a:buSzPct val="100000"/>
              <a:buAutoNum type="arabicPeriod"/>
            </a:pPr>
            <a:r>
              <a:rPr lang="zh-CN"/>
              <a:t>transfer</a:t>
            </a:r>
            <a:r>
              <a:rPr lang="zh-CN"/>
              <a:t> the method to real (FLIP) </a:t>
            </a:r>
            <a:endParaRPr/>
          </a:p>
          <a:p>
            <a:pPr indent="-310832" lvl="1" marL="914400" rtl="0" algn="l">
              <a:spcBef>
                <a:spcPts val="0"/>
              </a:spcBef>
              <a:spcAft>
                <a:spcPts val="0"/>
              </a:spcAft>
              <a:buSzPct val="100000"/>
              <a:buAutoNum type="alphaLcPeriod"/>
            </a:pPr>
            <a:r>
              <a:rPr lang="zh-CN"/>
              <a:t>Expanded Model Parameters</a:t>
            </a:r>
            <a:endParaRPr/>
          </a:p>
          <a:p>
            <a:pPr indent="-310832" lvl="1" marL="914400" rtl="0" algn="l">
              <a:spcBef>
                <a:spcPts val="0"/>
              </a:spcBef>
              <a:spcAft>
                <a:spcPts val="0"/>
              </a:spcAft>
              <a:buSzPct val="100000"/>
              <a:buAutoNum type="alphaLcPeriod"/>
            </a:pPr>
            <a:r>
              <a:rPr lang="zh-CN"/>
              <a:t>Multi-Stage Optimization and Signal Preservation</a:t>
            </a:r>
            <a:endParaRPr/>
          </a:p>
          <a:p>
            <a:pPr indent="-310832" lvl="1" marL="914400" rtl="0" algn="l">
              <a:spcBef>
                <a:spcPts val="0"/>
              </a:spcBef>
              <a:spcAft>
                <a:spcPts val="0"/>
              </a:spcAft>
              <a:buSzPct val="100000"/>
              <a:buAutoNum type="alphaLcPeriod"/>
            </a:pPr>
            <a:r>
              <a:rPr lang="zh-CN"/>
              <a:t>Results on Real Observations</a:t>
            </a:r>
            <a:endParaRPr/>
          </a:p>
          <a:p>
            <a:pPr indent="-334328" lvl="0" marL="457200" rtl="0" algn="l">
              <a:spcBef>
                <a:spcPts val="0"/>
              </a:spcBef>
              <a:spcAft>
                <a:spcPts val="0"/>
              </a:spcAft>
              <a:buSzPct val="100000"/>
              <a:buAutoNum type="arabicPeriod"/>
            </a:pPr>
            <a:r>
              <a:rPr lang="zh-CN"/>
              <a:t>Code experiment</a:t>
            </a:r>
            <a:endParaRPr/>
          </a:p>
          <a:p>
            <a:pPr indent="-310832" lvl="1" marL="914400" rtl="0" algn="l">
              <a:spcBef>
                <a:spcPts val="0"/>
              </a:spcBef>
              <a:spcAft>
                <a:spcPts val="0"/>
              </a:spcAft>
              <a:buSzPct val="100000"/>
              <a:buAutoNum type="alphaLcPeriod"/>
            </a:pPr>
            <a:r>
              <a:rPr lang="zh-CN"/>
              <a:t>On simulated data</a:t>
            </a:r>
            <a:endParaRPr/>
          </a:p>
          <a:p>
            <a:pPr indent="-310832" lvl="1" marL="914400" rtl="0" algn="l">
              <a:spcBef>
                <a:spcPts val="0"/>
              </a:spcBef>
              <a:spcAft>
                <a:spcPts val="0"/>
              </a:spcAft>
              <a:buSzPct val="100000"/>
              <a:buAutoNum type="alphaLcPeriod"/>
            </a:pPr>
            <a:r>
              <a:rPr lang="zh-CN"/>
              <a:t>On real JWST images</a:t>
            </a:r>
            <a:endParaRPr/>
          </a:p>
          <a:p>
            <a:pPr indent="-334328" lvl="0" marL="457200" rtl="0" algn="l">
              <a:spcBef>
                <a:spcPts val="0"/>
              </a:spcBef>
              <a:spcAft>
                <a:spcPts val="0"/>
              </a:spcAft>
              <a:buSzPct val="100000"/>
              <a:buAutoNum type="arabicPeriod"/>
            </a:pPr>
            <a:r>
              <a:rPr lang="zh-CN"/>
              <a:t>Next step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Exoplanet Imaging</a:t>
            </a:r>
            <a:endParaRPr/>
          </a:p>
        </p:txBody>
      </p:sp>
      <p:sp>
        <p:nvSpPr>
          <p:cNvPr id="90" name="Google Shape;9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bright starlight vs faint planet light</a:t>
            </a:r>
            <a:endParaRPr/>
          </a:p>
          <a:p>
            <a:pPr indent="-317500" lvl="1" marL="914400" rtl="0" algn="l">
              <a:spcBef>
                <a:spcPts val="0"/>
              </a:spcBef>
              <a:spcAft>
                <a:spcPts val="0"/>
              </a:spcAft>
              <a:buSzPts val="1400"/>
              <a:buChar char="○"/>
            </a:pPr>
            <a:r>
              <a:rPr lang="zh-CN"/>
              <a:t>planet can be ~10</a:t>
            </a:r>
            <a:r>
              <a:rPr baseline="30000" lang="zh-CN"/>
              <a:t>5</a:t>
            </a:r>
            <a:r>
              <a:rPr lang="zh-CN"/>
              <a:t> times fainter than starlight</a:t>
            </a:r>
            <a:endParaRPr/>
          </a:p>
          <a:p>
            <a:pPr indent="-342900" lvl="0" marL="457200" rtl="0" algn="l">
              <a:spcBef>
                <a:spcPts val="0"/>
              </a:spcBef>
              <a:spcAft>
                <a:spcPts val="0"/>
              </a:spcAft>
              <a:buSzPts val="1800"/>
              <a:buChar char="●"/>
            </a:pPr>
            <a:r>
              <a:rPr lang="zh-CN"/>
              <a:t>the starlight can hide the signal from planets closer to the star</a:t>
            </a:r>
            <a:endParaRPr/>
          </a:p>
          <a:p>
            <a:pPr indent="-342900" lvl="0" marL="457200" rtl="0" algn="l">
              <a:spcBef>
                <a:spcPts val="0"/>
              </a:spcBef>
              <a:spcAft>
                <a:spcPts val="0"/>
              </a:spcAft>
              <a:buSzPts val="1800"/>
              <a:buChar char="●"/>
            </a:pPr>
            <a:r>
              <a:rPr lang="zh-CN"/>
              <a:t>starlight</a:t>
            </a:r>
            <a:r>
              <a:rPr lang="zh-CN"/>
              <a:t> </a:t>
            </a:r>
            <a:r>
              <a:rPr lang="zh-CN"/>
              <a:t>suppression</a:t>
            </a:r>
            <a:r>
              <a:rPr lang="zh-CN"/>
              <a:t> through image processing techniques</a:t>
            </a:r>
            <a:endParaRPr/>
          </a:p>
          <a:p>
            <a:pPr indent="-342900" lvl="0" marL="457200" rtl="0" algn="l">
              <a:spcBef>
                <a:spcPts val="0"/>
              </a:spcBef>
              <a:spcAft>
                <a:spcPts val="0"/>
              </a:spcAft>
              <a:buSzPts val="1800"/>
              <a:buChar char="●"/>
            </a:pPr>
            <a:r>
              <a:rPr lang="zh-CN"/>
              <a:t>difficult to model stellar PSF precisely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CN"/>
              <a:t>Coronograph</a:t>
            </a:r>
            <a:endParaRPr/>
          </a:p>
        </p:txBody>
      </p:sp>
      <p:sp>
        <p:nvSpPr>
          <p:cNvPr id="96" name="Google Shape;9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blocks starlight through mask and Lyot stop</a:t>
            </a:r>
            <a:endParaRPr/>
          </a:p>
          <a:p>
            <a:pPr indent="-342900" lvl="0" marL="457200" rtl="0" algn="l">
              <a:spcBef>
                <a:spcPts val="0"/>
              </a:spcBef>
              <a:spcAft>
                <a:spcPts val="0"/>
              </a:spcAft>
              <a:buSzPts val="1800"/>
              <a:buChar char="●"/>
            </a:pPr>
            <a:r>
              <a:rPr lang="zh-CN"/>
              <a:t>leakage of light and speckles caused by </a:t>
            </a:r>
            <a:r>
              <a:rPr lang="zh-CN"/>
              <a:t>wavefront aberrations</a:t>
            </a:r>
            <a:endParaRPr/>
          </a:p>
        </p:txBody>
      </p:sp>
      <p:pic>
        <p:nvPicPr>
          <p:cNvPr id="97" name="Google Shape;97;p24" title="jwst_optical_planes_img.png"/>
          <p:cNvPicPr preferRelativeResize="0"/>
          <p:nvPr/>
        </p:nvPicPr>
        <p:blipFill>
          <a:blip r:embed="rId3">
            <a:alphaModFix/>
          </a:blip>
          <a:stretch>
            <a:fillRect/>
          </a:stretch>
        </p:blipFill>
        <p:spPr>
          <a:xfrm>
            <a:off x="3305100" y="2112960"/>
            <a:ext cx="5527199" cy="2455924"/>
          </a:xfrm>
          <a:prstGeom prst="rect">
            <a:avLst/>
          </a:prstGeom>
          <a:noFill/>
          <a:ln>
            <a:noFill/>
          </a:ln>
        </p:spPr>
      </p:pic>
      <p:sp>
        <p:nvSpPr>
          <p:cNvPr id="98" name="Google Shape;98;p24"/>
          <p:cNvSpPr txBox="1"/>
          <p:nvPr>
            <p:ph idx="1" type="body"/>
          </p:nvPr>
        </p:nvSpPr>
        <p:spPr>
          <a:xfrm>
            <a:off x="311700" y="1312550"/>
            <a:ext cx="2993400" cy="325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zh-CN"/>
              <a:t>wavefront aberrations:</a:t>
            </a:r>
            <a:endParaRPr/>
          </a:p>
          <a:p>
            <a:pPr indent="-317500" lvl="1" marL="914400" rtl="0" algn="l">
              <a:spcBef>
                <a:spcPts val="0"/>
              </a:spcBef>
              <a:spcAft>
                <a:spcPts val="0"/>
              </a:spcAft>
              <a:buSzPts val="1400"/>
              <a:buChar char="○"/>
            </a:pPr>
            <a:r>
              <a:rPr lang="zh-CN"/>
              <a:t>off-center light</a:t>
            </a:r>
            <a:endParaRPr/>
          </a:p>
          <a:p>
            <a:pPr indent="-317500" lvl="1" marL="914400" rtl="0" algn="l">
              <a:spcBef>
                <a:spcPts val="0"/>
              </a:spcBef>
              <a:spcAft>
                <a:spcPts val="0"/>
              </a:spcAft>
              <a:buSzPts val="1400"/>
              <a:buChar char="○"/>
            </a:pPr>
            <a:r>
              <a:rPr lang="zh-CN"/>
              <a:t>defocus</a:t>
            </a:r>
            <a:endParaRPr/>
          </a:p>
          <a:p>
            <a:pPr indent="-317500" lvl="1" marL="914400" rtl="0" algn="l">
              <a:spcBef>
                <a:spcPts val="0"/>
              </a:spcBef>
              <a:spcAft>
                <a:spcPts val="0"/>
              </a:spcAft>
              <a:buSzPts val="1400"/>
              <a:buChar char="○"/>
            </a:pPr>
            <a:r>
              <a:rPr lang="zh-CN"/>
              <a:t>astigmatism</a:t>
            </a:r>
            <a:endParaRPr/>
          </a:p>
          <a:p>
            <a:pPr indent="-317500" lvl="1" marL="914400" rtl="0" algn="l">
              <a:spcBef>
                <a:spcPts val="0"/>
              </a:spcBef>
              <a:spcAft>
                <a:spcPts val="0"/>
              </a:spcAft>
              <a:buSzPts val="1400"/>
              <a:buChar char="○"/>
            </a:pPr>
            <a:r>
              <a:rPr lang="zh-CN"/>
              <a:t>mirror imperfections</a:t>
            </a:r>
            <a:endParaRPr/>
          </a:p>
          <a:p>
            <a:pPr indent="-317500" lvl="1" marL="914400" rtl="0" algn="l">
              <a:spcBef>
                <a:spcPts val="0"/>
              </a:spcBef>
              <a:spcAft>
                <a:spcPts val="0"/>
              </a:spcAft>
              <a:buSzPts val="1400"/>
              <a:buChar char="○"/>
            </a:pPr>
            <a:r>
              <a:rPr lang="zh-CN"/>
              <a:t>thermal drifts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5" title="00001_PSISDG10698_1069809_page_2_1.jpg"/>
          <p:cNvPicPr preferRelativeResize="0"/>
          <p:nvPr/>
        </p:nvPicPr>
        <p:blipFill>
          <a:blip r:embed="rId3">
            <a:alphaModFix/>
          </a:blip>
          <a:stretch>
            <a:fillRect/>
          </a:stretch>
        </p:blipFill>
        <p:spPr>
          <a:xfrm>
            <a:off x="4179850" y="152400"/>
            <a:ext cx="4778593" cy="4838701"/>
          </a:xfrm>
          <a:prstGeom prst="rect">
            <a:avLst/>
          </a:prstGeom>
          <a:noFill/>
          <a:ln>
            <a:noFill/>
          </a:ln>
        </p:spPr>
      </p:pic>
      <p:sp>
        <p:nvSpPr>
          <p:cNvPr id="104" name="Google Shape;10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Coronograph</a:t>
            </a:r>
            <a:endParaRPr/>
          </a:p>
        </p:txBody>
      </p:sp>
      <p:sp>
        <p:nvSpPr>
          <p:cNvPr id="105" name="Google Shape;105;p25"/>
          <p:cNvSpPr txBox="1"/>
          <p:nvPr>
            <p:ph idx="1" type="body"/>
          </p:nvPr>
        </p:nvSpPr>
        <p:spPr>
          <a:xfrm>
            <a:off x="311700" y="1152475"/>
            <a:ext cx="38682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zh-CN"/>
              <a:t>NIRCam</a:t>
            </a:r>
            <a:endParaRPr/>
          </a:p>
          <a:p>
            <a:pPr indent="-317500" lvl="1" marL="914400" rtl="0" algn="l">
              <a:spcBef>
                <a:spcPts val="0"/>
              </a:spcBef>
              <a:spcAft>
                <a:spcPts val="0"/>
              </a:spcAft>
              <a:buSzPts val="1400"/>
              <a:buChar char="○"/>
            </a:pPr>
            <a:r>
              <a:rPr lang="zh-CN"/>
              <a:t>5 band-limited Lyot-coronagraphs</a:t>
            </a:r>
            <a:endParaRPr/>
          </a:p>
          <a:p>
            <a:pPr indent="-317500" lvl="1" marL="914400" rtl="0" algn="l">
              <a:spcBef>
                <a:spcPts val="0"/>
              </a:spcBef>
              <a:spcAft>
                <a:spcPts val="0"/>
              </a:spcAft>
              <a:buSzPts val="1400"/>
              <a:buChar char="○"/>
            </a:pPr>
            <a:r>
              <a:rPr lang="zh-CN"/>
              <a:t>3 circular and 2 bar masks</a:t>
            </a:r>
            <a:endParaRPr/>
          </a:p>
          <a:p>
            <a:pPr indent="-342900" lvl="0" marL="457200" rtl="0" algn="l">
              <a:spcBef>
                <a:spcPts val="0"/>
              </a:spcBef>
              <a:spcAft>
                <a:spcPts val="0"/>
              </a:spcAft>
              <a:buSzPts val="1800"/>
              <a:buChar char="●"/>
            </a:pPr>
            <a:r>
              <a:rPr lang="zh-CN"/>
              <a:t>MIRI</a:t>
            </a:r>
            <a:endParaRPr/>
          </a:p>
          <a:p>
            <a:pPr indent="-317500" lvl="1" marL="914400" rtl="0" algn="l">
              <a:spcBef>
                <a:spcPts val="0"/>
              </a:spcBef>
              <a:spcAft>
                <a:spcPts val="0"/>
              </a:spcAft>
              <a:buSzPts val="1400"/>
              <a:buChar char="○"/>
            </a:pPr>
            <a:r>
              <a:rPr lang="zh-CN"/>
              <a:t>3 four-quadrant phase masks</a:t>
            </a:r>
            <a:endParaRPr/>
          </a:p>
          <a:p>
            <a:pPr indent="-317500" lvl="2" marL="1371600" rtl="0" algn="l">
              <a:spcBef>
                <a:spcPts val="0"/>
              </a:spcBef>
              <a:spcAft>
                <a:spcPts val="0"/>
              </a:spcAft>
              <a:buSzPts val="1400"/>
              <a:buChar char="■"/>
            </a:pPr>
            <a:r>
              <a:rPr lang="zh-CN"/>
              <a:t>changes phase of incoming light causing the light to interfere destructively</a:t>
            </a:r>
            <a:endParaRPr/>
          </a:p>
          <a:p>
            <a:pPr indent="-317500" lvl="1" marL="914400" rtl="0" algn="l">
              <a:spcBef>
                <a:spcPts val="0"/>
              </a:spcBef>
              <a:spcAft>
                <a:spcPts val="0"/>
              </a:spcAft>
              <a:buSzPts val="1400"/>
              <a:buChar char="○"/>
            </a:pPr>
            <a:r>
              <a:rPr lang="zh-CN"/>
              <a:t>1 Lyot coronagraph</a:t>
            </a:r>
            <a:endParaRPr/>
          </a:p>
          <a:p>
            <a:pPr indent="-342900" lvl="0" marL="457200" rtl="0" algn="l">
              <a:spcBef>
                <a:spcPts val="0"/>
              </a:spcBef>
              <a:spcAft>
                <a:spcPts val="0"/>
              </a:spcAft>
              <a:buSzPts val="1800"/>
              <a:buChar char="●"/>
            </a:pPr>
            <a:r>
              <a:rPr lang="zh-CN"/>
              <a:t>WebbPSF/STPSF simulates the PSFs of both NIRCam and MIRI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Traditional Methods</a:t>
            </a:r>
            <a:endParaRPr/>
          </a:p>
        </p:txBody>
      </p:sp>
      <p:sp>
        <p:nvSpPr>
          <p:cNvPr id="111" name="Google Shape;11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traditionally, use reference images taken at different times or wavelengths or of other stars</a:t>
            </a:r>
            <a:endParaRPr/>
          </a:p>
          <a:p>
            <a:pPr indent="-342900" lvl="0" marL="457200" rtl="0" algn="l">
              <a:spcBef>
                <a:spcPts val="0"/>
              </a:spcBef>
              <a:spcAft>
                <a:spcPts val="0"/>
              </a:spcAft>
              <a:buSzPts val="1800"/>
              <a:buChar char="●"/>
            </a:pPr>
            <a:r>
              <a:rPr lang="zh-CN"/>
              <a:t>differences between reference image and science observation due to </a:t>
            </a:r>
            <a:r>
              <a:rPr lang="zh-CN"/>
              <a:t>telescope instabilities and wavefront aberrations</a:t>
            </a:r>
            <a:r>
              <a:rPr lang="zh-CN"/>
              <a:t> </a:t>
            </a:r>
            <a:endParaRPr/>
          </a:p>
        </p:txBody>
      </p:sp>
      <p:pic>
        <p:nvPicPr>
          <p:cNvPr id="112" name="Google Shape;112;p26" title="Screenshot 2026-10-16 at 08.52.03.png"/>
          <p:cNvPicPr preferRelativeResize="0"/>
          <p:nvPr/>
        </p:nvPicPr>
        <p:blipFill rotWithShape="1">
          <a:blip r:embed="rId3">
            <a:alphaModFix/>
          </a:blip>
          <a:srcRect b="2496" l="0" r="0" t="0"/>
          <a:stretch/>
        </p:blipFill>
        <p:spPr>
          <a:xfrm>
            <a:off x="1960925" y="2679775"/>
            <a:ext cx="5222151" cy="2166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7"/>
          <p:cNvSpPr txBox="1"/>
          <p:nvPr>
            <p:ph type="title"/>
          </p:nvPr>
        </p:nvSpPr>
        <p:spPr>
          <a:xfrm>
            <a:off x="311700" y="1862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zh-CN" sz="1800"/>
              <a:t>P</a:t>
            </a:r>
            <a:r>
              <a:rPr b="1" lang="zh-CN" sz="1800"/>
              <a:t>roposed method (EDDO)</a:t>
            </a:r>
            <a:endParaRPr b="1"/>
          </a:p>
        </p:txBody>
      </p:sp>
      <p:sp>
        <p:nvSpPr>
          <p:cNvPr id="118" name="Google Shape;118;p27"/>
          <p:cNvSpPr txBox="1"/>
          <p:nvPr>
            <p:ph idx="1" type="body"/>
          </p:nvPr>
        </p:nvSpPr>
        <p:spPr>
          <a:xfrm>
            <a:off x="311700" y="641500"/>
            <a:ext cx="78954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zh-CN" sz="1600">
                <a:solidFill>
                  <a:schemeClr val="dk1"/>
                </a:solidFill>
              </a:rPr>
              <a:t>Imaging Model——</a:t>
            </a:r>
            <a:r>
              <a:rPr lang="zh-CN" sz="1600">
                <a:solidFill>
                  <a:schemeClr val="dk1"/>
                </a:solidFill>
              </a:rPr>
              <a:t>Coronagraphy </a:t>
            </a:r>
            <a:endParaRPr b="1" sz="1600">
              <a:solidFill>
                <a:schemeClr val="dk1"/>
              </a:solidFill>
            </a:endParaRPr>
          </a:p>
          <a:p>
            <a:pPr indent="0" lvl="0" marL="0" rtl="0" algn="l">
              <a:spcBef>
                <a:spcPts val="1200"/>
              </a:spcBef>
              <a:spcAft>
                <a:spcPts val="0"/>
              </a:spcAft>
              <a:buClr>
                <a:schemeClr val="dk1"/>
              </a:buClr>
              <a:buSzPts val="1100"/>
              <a:buFont typeface="Arial"/>
              <a:buNone/>
            </a:pPr>
            <a:r>
              <a:rPr b="1" lang="zh-CN" sz="1600">
                <a:solidFill>
                  <a:schemeClr val="dk1"/>
                </a:solidFill>
              </a:rPr>
              <a:t>Model how light travels through the telescope</a:t>
            </a:r>
            <a:br>
              <a:rPr lang="zh-CN" sz="1600">
                <a:solidFill>
                  <a:schemeClr val="dk1"/>
                </a:solidFill>
              </a:rPr>
            </a:br>
            <a:r>
              <a:rPr b="1" lang="zh-CN" sz="1600">
                <a:solidFill>
                  <a:schemeClr val="dk1"/>
                </a:solidFill>
              </a:rPr>
              <a:t>Optical system:</a:t>
            </a:r>
            <a:r>
              <a:rPr lang="zh-CN" sz="1600">
                <a:solidFill>
                  <a:schemeClr val="dk1"/>
                </a:solidFill>
              </a:rPr>
              <a:t> entrance pupil → focal-plane mask → Lyot stop → instrument optics</a:t>
            </a:r>
            <a:r>
              <a:rPr lang="zh-CN" sz="1600">
                <a:solidFill>
                  <a:schemeClr val="dk1"/>
                </a:solidFill>
              </a:rPr>
              <a:t> → detector</a:t>
            </a:r>
            <a:endParaRPr sz="1600">
              <a:solidFill>
                <a:schemeClr val="dk1"/>
              </a:solidFill>
            </a:endParaRPr>
          </a:p>
          <a:p>
            <a:pPr indent="0" lvl="0" marL="0" rtl="0" algn="l">
              <a:spcBef>
                <a:spcPts val="1200"/>
              </a:spcBef>
              <a:spcAft>
                <a:spcPts val="0"/>
              </a:spcAft>
              <a:buClr>
                <a:schemeClr val="dk1"/>
              </a:buClr>
              <a:buSzPts val="1100"/>
              <a:buFont typeface="Arial"/>
              <a:buNone/>
            </a:pPr>
            <a:r>
              <a:rPr lang="zh-CN" sz="1600">
                <a:solidFill>
                  <a:schemeClr val="dk1"/>
                </a:solidFill>
              </a:rPr>
              <a:t>The model represents light as a wave before converting it to detector intensity.</a:t>
            </a:r>
            <a:endParaRPr sz="1600">
              <a:solidFill>
                <a:schemeClr val="dk1"/>
              </a:solidFill>
            </a:endParaRPr>
          </a:p>
          <a:p>
            <a:pPr indent="0" lvl="0" marL="0" rtl="0" algn="l">
              <a:spcBef>
                <a:spcPts val="1200"/>
              </a:spcBef>
              <a:spcAft>
                <a:spcPts val="1200"/>
              </a:spcAft>
              <a:buNone/>
            </a:pPr>
            <a:r>
              <a:t/>
            </a:r>
            <a:endParaRPr sz="2000"/>
          </a:p>
        </p:txBody>
      </p:sp>
      <p:pic>
        <p:nvPicPr>
          <p:cNvPr id="119" name="Google Shape;119;p27" title="jwst_optical_planes_img.png"/>
          <p:cNvPicPr preferRelativeResize="0"/>
          <p:nvPr/>
        </p:nvPicPr>
        <p:blipFill>
          <a:blip r:embed="rId3">
            <a:alphaModFix/>
          </a:blip>
          <a:stretch>
            <a:fillRect/>
          </a:stretch>
        </p:blipFill>
        <p:spPr>
          <a:xfrm>
            <a:off x="1808400" y="2662510"/>
            <a:ext cx="5527199" cy="24559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ph type="title"/>
          </p:nvPr>
        </p:nvSpPr>
        <p:spPr>
          <a:xfrm>
            <a:off x="311700" y="264863"/>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zh-CN" sz="1800"/>
              <a:t>A differentiable forward model</a:t>
            </a:r>
            <a:endParaRPr sz="3500"/>
          </a:p>
        </p:txBody>
      </p:sp>
      <p:sp>
        <p:nvSpPr>
          <p:cNvPr id="125" name="Google Shape;125;p28"/>
          <p:cNvSpPr txBox="1"/>
          <p:nvPr>
            <p:ph idx="1" type="body"/>
          </p:nvPr>
        </p:nvSpPr>
        <p:spPr>
          <a:xfrm>
            <a:off x="803938" y="935438"/>
            <a:ext cx="8520600" cy="824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zh-CN" sz="1400">
                <a:solidFill>
                  <a:schemeClr val="dk1"/>
                </a:solidFill>
              </a:rPr>
              <a:t>Input:</a:t>
            </a:r>
            <a:r>
              <a:rPr lang="zh-CN" sz="1400">
                <a:solidFill>
                  <a:schemeClr val="dk1"/>
                </a:solidFill>
              </a:rPr>
              <a:t> wavefront aberration + star position</a:t>
            </a:r>
            <a:endParaRPr sz="1400">
              <a:solidFill>
                <a:schemeClr val="dk1"/>
              </a:solidFill>
            </a:endParaRPr>
          </a:p>
          <a:p>
            <a:pPr indent="0" lvl="0" marL="0" rtl="0" algn="l">
              <a:spcBef>
                <a:spcPts val="1200"/>
              </a:spcBef>
              <a:spcAft>
                <a:spcPts val="1200"/>
              </a:spcAft>
              <a:buClr>
                <a:schemeClr val="dk1"/>
              </a:buClr>
              <a:buSzPts val="1100"/>
              <a:buFont typeface="Arial"/>
              <a:buNone/>
            </a:pPr>
            <a:r>
              <a:rPr b="1" lang="zh-CN" sz="1400">
                <a:solidFill>
                  <a:schemeClr val="dk1"/>
                </a:solidFill>
              </a:rPr>
              <a:t>Output:</a:t>
            </a:r>
            <a:r>
              <a:rPr lang="zh-CN" sz="1400">
                <a:solidFill>
                  <a:schemeClr val="dk1"/>
                </a:solidFill>
              </a:rPr>
              <a:t> rendered star image / PSF</a:t>
            </a:r>
            <a:endParaRPr sz="1400">
              <a:solidFill>
                <a:schemeClr val="dk1"/>
              </a:solidFill>
            </a:endParaRPr>
          </a:p>
        </p:txBody>
      </p:sp>
      <p:pic>
        <p:nvPicPr>
          <p:cNvPr id="126" name="Google Shape;126;p28" title="截屏2026-10-16 02.20.26.png"/>
          <p:cNvPicPr preferRelativeResize="0"/>
          <p:nvPr/>
        </p:nvPicPr>
        <p:blipFill rotWithShape="1">
          <a:blip r:embed="rId3">
            <a:alphaModFix/>
          </a:blip>
          <a:srcRect b="44623" l="0" r="0" t="0"/>
          <a:stretch/>
        </p:blipFill>
        <p:spPr>
          <a:xfrm>
            <a:off x="440975" y="2137125"/>
            <a:ext cx="8262049" cy="2347951"/>
          </a:xfrm>
          <a:prstGeom prst="rect">
            <a:avLst/>
          </a:prstGeom>
          <a:noFill/>
          <a:ln>
            <a:noFill/>
          </a:ln>
        </p:spPr>
      </p:pic>
      <p:pic>
        <p:nvPicPr>
          <p:cNvPr id="127" name="Google Shape;127;p28" title="截屏2026-10-16 02.57.32.png"/>
          <p:cNvPicPr preferRelativeResize="0"/>
          <p:nvPr/>
        </p:nvPicPr>
        <p:blipFill>
          <a:blip r:embed="rId4">
            <a:alphaModFix/>
          </a:blip>
          <a:stretch>
            <a:fillRect/>
          </a:stretch>
        </p:blipFill>
        <p:spPr>
          <a:xfrm>
            <a:off x="5577150" y="1211163"/>
            <a:ext cx="1723662" cy="4629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6279900" y="675800"/>
            <a:ext cx="2775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CN" sz="1800"/>
              <a:t>Optimization Pipeline</a:t>
            </a:r>
            <a:endParaRPr b="1" sz="1800"/>
          </a:p>
        </p:txBody>
      </p:sp>
      <p:sp>
        <p:nvSpPr>
          <p:cNvPr id="133" name="Google Shape;133;p29"/>
          <p:cNvSpPr txBox="1"/>
          <p:nvPr>
            <p:ph idx="1" type="body"/>
          </p:nvPr>
        </p:nvSpPr>
        <p:spPr>
          <a:xfrm>
            <a:off x="154950" y="91475"/>
            <a:ext cx="85206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AutoNum type="arabicPeriod"/>
            </a:pPr>
            <a:r>
              <a:rPr lang="zh-CN" sz="1400">
                <a:solidFill>
                  <a:schemeClr val="dk1"/>
                </a:solidFill>
              </a:rPr>
              <a:t>Start with the latest available wavefront measurement.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zh-CN" sz="1400">
                <a:solidFill>
                  <a:schemeClr val="dk1"/>
                </a:solidFill>
              </a:rPr>
              <a:t>Render a star PSF from the current wavefront estimate.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zh-CN" sz="1400">
                <a:solidFill>
                  <a:schemeClr val="dk1"/>
                </a:solidFill>
              </a:rPr>
              <a:t>Compare it with the observed science image using an L1 loss.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zh-CN" sz="1400">
                <a:solidFill>
                  <a:schemeClr val="dk1"/>
                </a:solidFill>
              </a:rPr>
              <a:t>Backpropagate gradients to the wavefront map.</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zh-CN" sz="1400">
                <a:solidFill>
                  <a:schemeClr val="dk1"/>
                </a:solidFill>
              </a:rPr>
              <a:t>Update the wavefront estimate and repeat.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zh-CN" sz="1400">
                <a:solidFill>
                  <a:schemeClr val="dk1"/>
                </a:solidFill>
              </a:rPr>
              <a:t>Subtract the refined star PSF.</a:t>
            </a:r>
            <a:endParaRPr sz="1400">
              <a:solidFill>
                <a:schemeClr val="dk1"/>
              </a:solidFill>
            </a:endParaRPr>
          </a:p>
          <a:p>
            <a:pPr indent="0" lvl="0" marL="0" rtl="0" algn="l">
              <a:spcBef>
                <a:spcPts val="1200"/>
              </a:spcBef>
              <a:spcAft>
                <a:spcPts val="1200"/>
              </a:spcAft>
              <a:buNone/>
            </a:pPr>
            <a:r>
              <a:t/>
            </a:r>
            <a:endParaRPr/>
          </a:p>
        </p:txBody>
      </p:sp>
      <p:pic>
        <p:nvPicPr>
          <p:cNvPr id="134" name="Google Shape;134;p29" title="截屏2026-10-16 02.20.26.png"/>
          <p:cNvPicPr preferRelativeResize="0"/>
          <p:nvPr/>
        </p:nvPicPr>
        <p:blipFill rotWithShape="1">
          <a:blip r:embed="rId3">
            <a:alphaModFix/>
          </a:blip>
          <a:srcRect b="0" l="0" r="0" t="0"/>
          <a:stretch/>
        </p:blipFill>
        <p:spPr>
          <a:xfrm>
            <a:off x="1193462" y="1736200"/>
            <a:ext cx="6757073" cy="346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type="title"/>
          </p:nvPr>
        </p:nvSpPr>
        <p:spPr>
          <a:xfrm>
            <a:off x="311700" y="1760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zh-CN" sz="1800"/>
              <a:t>Simulation setup</a:t>
            </a:r>
            <a:endParaRPr sz="3500"/>
          </a:p>
        </p:txBody>
      </p:sp>
      <p:sp>
        <p:nvSpPr>
          <p:cNvPr id="140" name="Google Shape;140;p30"/>
          <p:cNvSpPr txBox="1"/>
          <p:nvPr>
            <p:ph idx="1" type="body"/>
          </p:nvPr>
        </p:nvSpPr>
        <p:spPr>
          <a:xfrm>
            <a:off x="311700" y="176075"/>
            <a:ext cx="8520600" cy="2142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sz="1100">
              <a:solidFill>
                <a:schemeClr val="dk1"/>
              </a:solidFill>
            </a:endParaRPr>
          </a:p>
          <a:p>
            <a:pPr indent="-317500" lvl="0" marL="457200" rtl="0" algn="l">
              <a:spcBef>
                <a:spcPts val="1200"/>
              </a:spcBef>
              <a:spcAft>
                <a:spcPts val="0"/>
              </a:spcAft>
              <a:buClr>
                <a:schemeClr val="dk1"/>
              </a:buClr>
              <a:buSzPts val="1400"/>
              <a:buChar char="●"/>
            </a:pPr>
            <a:r>
              <a:rPr lang="zh-CN" sz="1400">
                <a:solidFill>
                  <a:schemeClr val="dk1"/>
                </a:solidFill>
              </a:rPr>
              <a:t>Monochromatic point sources at </a:t>
            </a:r>
            <a:r>
              <a:rPr lang="zh-CN" sz="1400">
                <a:solidFill>
                  <a:schemeClr val="dk1"/>
                </a:solidFill>
              </a:rPr>
              <a:t>4.5 micrometers </a:t>
            </a:r>
            <a:endParaRPr sz="1400">
              <a:solidFill>
                <a:schemeClr val="dk1"/>
              </a:solidFill>
            </a:endParaRPr>
          </a:p>
          <a:p>
            <a:pPr indent="-317500" lvl="0" marL="457200" rtl="0" algn="l">
              <a:spcBef>
                <a:spcPts val="0"/>
              </a:spcBef>
              <a:spcAft>
                <a:spcPts val="0"/>
              </a:spcAft>
              <a:buClr>
                <a:schemeClr val="dk1"/>
              </a:buClr>
              <a:buSzPts val="1400"/>
              <a:buChar char="●"/>
            </a:pPr>
            <a:r>
              <a:rPr lang="zh-CN" sz="1400">
                <a:solidFill>
                  <a:schemeClr val="dk1"/>
                </a:solidFill>
              </a:rPr>
              <a:t>Two real JWST wavefront measurements, 86 hours apart</a:t>
            </a:r>
            <a:endParaRPr sz="1400">
              <a:solidFill>
                <a:schemeClr val="dk1"/>
              </a:solidFill>
            </a:endParaRPr>
          </a:p>
          <a:p>
            <a:pPr indent="-317500" lvl="0" marL="457200" rtl="0" algn="l">
              <a:spcBef>
                <a:spcPts val="0"/>
              </a:spcBef>
              <a:spcAft>
                <a:spcPts val="0"/>
              </a:spcAft>
              <a:buClr>
                <a:schemeClr val="dk1"/>
              </a:buClr>
              <a:buSzPts val="1400"/>
              <a:buChar char="●"/>
            </a:pPr>
            <a:r>
              <a:rPr lang="zh-CN" sz="1400">
                <a:solidFill>
                  <a:schemeClr val="dk1"/>
                </a:solidFill>
              </a:rPr>
              <a:t>The earlier measurement serves as the outdated estimate</a:t>
            </a:r>
            <a:endParaRPr sz="1400">
              <a:solidFill>
                <a:schemeClr val="dk1"/>
              </a:solidFill>
            </a:endParaRPr>
          </a:p>
          <a:p>
            <a:pPr indent="-317500" lvl="0" marL="457200" rtl="0" algn="l">
              <a:spcBef>
                <a:spcPts val="0"/>
              </a:spcBef>
              <a:spcAft>
                <a:spcPts val="0"/>
              </a:spcAft>
              <a:buClr>
                <a:schemeClr val="dk1"/>
              </a:buClr>
              <a:buSzPts val="1400"/>
              <a:buChar char="●"/>
            </a:pPr>
            <a:r>
              <a:rPr lang="zh-CN" sz="1400">
                <a:solidFill>
                  <a:schemeClr val="dk1"/>
                </a:solidFill>
              </a:rPr>
              <a:t>Simulated shot noise and detector read noise</a:t>
            </a:r>
            <a:endParaRPr sz="1400">
              <a:solidFill>
                <a:schemeClr val="dk1"/>
              </a:solidFill>
            </a:endParaRPr>
          </a:p>
          <a:p>
            <a:pPr indent="-317500" lvl="0" marL="457200" rtl="0" algn="l">
              <a:spcBef>
                <a:spcPts val="0"/>
              </a:spcBef>
              <a:spcAft>
                <a:spcPts val="0"/>
              </a:spcAft>
              <a:buClr>
                <a:schemeClr val="dk1"/>
              </a:buClr>
              <a:buSzPts val="1400"/>
              <a:buChar char="●"/>
            </a:pPr>
            <a:r>
              <a:rPr lang="zh-CN" sz="1400">
                <a:solidFill>
                  <a:schemeClr val="dk1"/>
                </a:solidFill>
              </a:rPr>
              <a:t>Adam optimizer, L1 loss, 1,000 iterations</a:t>
            </a:r>
            <a:endParaRPr/>
          </a:p>
        </p:txBody>
      </p:sp>
      <p:pic>
        <p:nvPicPr>
          <p:cNvPr id="141" name="Google Shape;141;p30" title="截屏2026-10-16 10.28.55.png"/>
          <p:cNvPicPr preferRelativeResize="0"/>
          <p:nvPr/>
        </p:nvPicPr>
        <p:blipFill>
          <a:blip r:embed="rId3">
            <a:alphaModFix/>
          </a:blip>
          <a:stretch>
            <a:fillRect/>
          </a:stretch>
        </p:blipFill>
        <p:spPr>
          <a:xfrm>
            <a:off x="1775436" y="1905000"/>
            <a:ext cx="5593127" cy="3238499"/>
          </a:xfrm>
          <a:prstGeom prst="rect">
            <a:avLst/>
          </a:prstGeom>
          <a:noFill/>
          <a:ln>
            <a:noFill/>
          </a:ln>
        </p:spPr>
      </p:pic>
      <p:pic>
        <p:nvPicPr>
          <p:cNvPr id="142" name="Google Shape;142;p30" title="截屏2026-10-16 10.29.45.png"/>
          <p:cNvPicPr preferRelativeResize="0"/>
          <p:nvPr/>
        </p:nvPicPr>
        <p:blipFill>
          <a:blip r:embed="rId4">
            <a:alphaModFix/>
          </a:blip>
          <a:stretch>
            <a:fillRect/>
          </a:stretch>
        </p:blipFill>
        <p:spPr>
          <a:xfrm>
            <a:off x="4146175" y="1575120"/>
            <a:ext cx="896475" cy="255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txBox="1"/>
          <p:nvPr>
            <p:ph type="title"/>
          </p:nvPr>
        </p:nvSpPr>
        <p:spPr>
          <a:xfrm>
            <a:off x="311700" y="1312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zh-CN" sz="1800"/>
              <a:t>Main Findings: Better Planet Detection</a:t>
            </a:r>
            <a:endParaRPr sz="2900"/>
          </a:p>
        </p:txBody>
      </p:sp>
      <p:sp>
        <p:nvSpPr>
          <p:cNvPr id="148" name="Google Shape;148;p31"/>
          <p:cNvSpPr txBox="1"/>
          <p:nvPr>
            <p:ph idx="1" type="body"/>
          </p:nvPr>
        </p:nvSpPr>
        <p:spPr>
          <a:xfrm>
            <a:off x="311700" y="502525"/>
            <a:ext cx="8520600" cy="1906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zh-CN" sz="1400">
                <a:solidFill>
                  <a:schemeClr val="dk1"/>
                </a:solidFill>
              </a:rPr>
              <a:t>The refined PSF improves detection</a:t>
            </a:r>
            <a:endParaRPr b="1" sz="1400">
              <a:solidFill>
                <a:schemeClr val="dk1"/>
              </a:solidFill>
            </a:endParaRPr>
          </a:p>
          <a:p>
            <a:pPr indent="-317500" lvl="0" marL="838200" marR="381000" rtl="0" algn="l">
              <a:spcBef>
                <a:spcPts val="1200"/>
              </a:spcBef>
              <a:spcAft>
                <a:spcPts val="0"/>
              </a:spcAft>
              <a:buClr>
                <a:schemeClr val="dk1"/>
              </a:buClr>
              <a:buSzPts val="1400"/>
              <a:buChar char="●"/>
            </a:pPr>
            <a:r>
              <a:rPr lang="zh-CN" sz="1400">
                <a:solidFill>
                  <a:schemeClr val="dk1"/>
                </a:solidFill>
              </a:rPr>
              <a:t>The method improves starlight subtraction across tested contrasts and wavefront drift levels.</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Its 5σ detection boundary approaches the fundamental noise limit.</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It outperforms KLIP in the reported simulations.</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Planet detection becomes more difficult closer to the star.</a:t>
            </a:r>
            <a:endParaRPr/>
          </a:p>
        </p:txBody>
      </p:sp>
      <p:pic>
        <p:nvPicPr>
          <p:cNvPr id="149" name="Google Shape;149;p31" title="截屏2026-10-16 10.54.07.png"/>
          <p:cNvPicPr preferRelativeResize="0"/>
          <p:nvPr/>
        </p:nvPicPr>
        <p:blipFill>
          <a:blip r:embed="rId3">
            <a:alphaModFix/>
          </a:blip>
          <a:stretch>
            <a:fillRect/>
          </a:stretch>
        </p:blipFill>
        <p:spPr>
          <a:xfrm>
            <a:off x="111476" y="2482103"/>
            <a:ext cx="3442601" cy="2515749"/>
          </a:xfrm>
          <a:prstGeom prst="rect">
            <a:avLst/>
          </a:prstGeom>
          <a:noFill/>
          <a:ln>
            <a:noFill/>
          </a:ln>
        </p:spPr>
      </p:pic>
      <p:pic>
        <p:nvPicPr>
          <p:cNvPr id="150" name="Google Shape;150;p31" title="截屏2026-10-16 10.55.43.png"/>
          <p:cNvPicPr preferRelativeResize="0"/>
          <p:nvPr/>
        </p:nvPicPr>
        <p:blipFill>
          <a:blip r:embed="rId4">
            <a:alphaModFix/>
          </a:blip>
          <a:stretch>
            <a:fillRect/>
          </a:stretch>
        </p:blipFill>
        <p:spPr>
          <a:xfrm>
            <a:off x="3505879" y="2378000"/>
            <a:ext cx="5638121" cy="2709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2"/>
          <p:cNvSpPr txBox="1"/>
          <p:nvPr>
            <p:ph type="title"/>
          </p:nvPr>
        </p:nvSpPr>
        <p:spPr>
          <a:xfrm>
            <a:off x="76375" y="86425"/>
            <a:ext cx="8520600" cy="572700"/>
          </a:xfrm>
          <a:prstGeom prst="rect">
            <a:avLst/>
          </a:prstGeom>
        </p:spPr>
        <p:txBody>
          <a:bodyPr anchorCtr="0" anchor="t" bIns="91425" lIns="91425" spcFirstLastPara="1" rIns="91425" wrap="square" tIns="91425">
            <a:normAutofit/>
          </a:bodyPr>
          <a:lstStyle/>
          <a:p>
            <a:pPr indent="0" lvl="0" marL="381000" marR="381000" rtl="0" algn="l">
              <a:lnSpc>
                <a:spcPct val="115000"/>
              </a:lnSpc>
              <a:spcBef>
                <a:spcPts val="1200"/>
              </a:spcBef>
              <a:spcAft>
                <a:spcPts val="1200"/>
              </a:spcAft>
              <a:buClr>
                <a:schemeClr val="dk1"/>
              </a:buClr>
              <a:buSzPts val="1100"/>
              <a:buFont typeface="Arial"/>
              <a:buNone/>
            </a:pPr>
            <a:r>
              <a:rPr b="1" lang="zh-CN" sz="1800"/>
              <a:t>Robustness and broader findings</a:t>
            </a:r>
            <a:endParaRPr sz="1800"/>
          </a:p>
        </p:txBody>
      </p:sp>
      <p:sp>
        <p:nvSpPr>
          <p:cNvPr id="156" name="Google Shape;156;p32"/>
          <p:cNvSpPr txBox="1"/>
          <p:nvPr>
            <p:ph idx="1" type="body"/>
          </p:nvPr>
        </p:nvSpPr>
        <p:spPr>
          <a:xfrm>
            <a:off x="6" y="86421"/>
            <a:ext cx="6198900" cy="1783500"/>
          </a:xfrm>
          <a:prstGeom prst="rect">
            <a:avLst/>
          </a:prstGeom>
        </p:spPr>
        <p:txBody>
          <a:bodyPr anchorCtr="0" anchor="t" bIns="91425" lIns="91425" spcFirstLastPara="1" rIns="91425" wrap="square" tIns="91425">
            <a:normAutofit/>
          </a:bodyPr>
          <a:lstStyle/>
          <a:p>
            <a:pPr indent="0" lvl="0" marL="381000" marR="381000" rtl="0" algn="l">
              <a:spcBef>
                <a:spcPts val="1200"/>
              </a:spcBef>
              <a:spcAft>
                <a:spcPts val="0"/>
              </a:spcAft>
              <a:buClr>
                <a:schemeClr val="dk1"/>
              </a:buClr>
              <a:buSzPts val="1100"/>
              <a:buFont typeface="Arial"/>
              <a:buNone/>
            </a:pPr>
            <a:r>
              <a:t/>
            </a:r>
            <a:endParaRPr b="1" sz="1400">
              <a:solidFill>
                <a:schemeClr val="dk1"/>
              </a:solidFill>
            </a:endParaRPr>
          </a:p>
          <a:p>
            <a:pPr indent="-317500" lvl="0" marL="838200" marR="381000" rtl="0" algn="l">
              <a:spcBef>
                <a:spcPts val="1200"/>
              </a:spcBef>
              <a:spcAft>
                <a:spcPts val="0"/>
              </a:spcAft>
              <a:buClr>
                <a:schemeClr val="dk1"/>
              </a:buClr>
              <a:buSzPts val="1400"/>
              <a:buChar char="●"/>
            </a:pPr>
            <a:r>
              <a:rPr lang="zh-CN" sz="1400">
                <a:solidFill>
                  <a:schemeClr val="dk1"/>
                </a:solidFill>
              </a:rPr>
              <a:t>Works across different tested planet locations.</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Reveal multiple planets without explicitly modeling them.</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Additional image measurements can improve performance.</a:t>
            </a:r>
            <a:endParaRPr sz="1400">
              <a:solidFill>
                <a:schemeClr val="dk1"/>
              </a:solidFill>
            </a:endParaRPr>
          </a:p>
          <a:p>
            <a:pPr indent="-317500" lvl="0" marL="838200" marR="381000" rtl="0" algn="l">
              <a:spcBef>
                <a:spcPts val="0"/>
              </a:spcBef>
              <a:spcAft>
                <a:spcPts val="0"/>
              </a:spcAft>
              <a:buClr>
                <a:schemeClr val="dk1"/>
              </a:buClr>
              <a:buSzPts val="1400"/>
              <a:buChar char="●"/>
            </a:pPr>
            <a:r>
              <a:rPr lang="zh-CN" sz="1400">
                <a:solidFill>
                  <a:schemeClr val="dk1"/>
                </a:solidFill>
              </a:rPr>
              <a:t>Moderate model mismatch can be partly compensated; severe mismatch still degrades results.</a:t>
            </a:r>
            <a:endParaRPr sz="1400"/>
          </a:p>
        </p:txBody>
      </p:sp>
      <p:pic>
        <p:nvPicPr>
          <p:cNvPr id="157" name="Google Shape;157;p32" title="截屏2026-10-16 11.16.38.png"/>
          <p:cNvPicPr preferRelativeResize="0"/>
          <p:nvPr/>
        </p:nvPicPr>
        <p:blipFill>
          <a:blip r:embed="rId3">
            <a:alphaModFix/>
          </a:blip>
          <a:stretch>
            <a:fillRect/>
          </a:stretch>
        </p:blipFill>
        <p:spPr>
          <a:xfrm>
            <a:off x="1382775" y="1966325"/>
            <a:ext cx="3189213" cy="2957551"/>
          </a:xfrm>
          <a:prstGeom prst="rect">
            <a:avLst/>
          </a:prstGeom>
          <a:noFill/>
          <a:ln>
            <a:noFill/>
          </a:ln>
        </p:spPr>
      </p:pic>
      <p:pic>
        <p:nvPicPr>
          <p:cNvPr id="158" name="Google Shape;158;p32" title="截屏2026-10-16 11.16.50.png"/>
          <p:cNvPicPr preferRelativeResize="0"/>
          <p:nvPr/>
        </p:nvPicPr>
        <p:blipFill>
          <a:blip r:embed="rId4">
            <a:alphaModFix/>
          </a:blip>
          <a:stretch>
            <a:fillRect/>
          </a:stretch>
        </p:blipFill>
        <p:spPr>
          <a:xfrm>
            <a:off x="5753905" y="0"/>
            <a:ext cx="3350951"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3"/>
          <p:cNvSpPr txBox="1"/>
          <p:nvPr/>
        </p:nvSpPr>
        <p:spPr>
          <a:xfrm>
            <a:off x="0" y="0"/>
            <a:ext cx="557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800">
                <a:solidFill>
                  <a:schemeClr val="dk1"/>
                </a:solidFill>
                <a:latin typeface="Times New Roman"/>
                <a:ea typeface="Times New Roman"/>
                <a:cs typeface="Times New Roman"/>
                <a:sym typeface="Times New Roman"/>
              </a:rPr>
              <a:t>Imaging exoplanets below the telescope stability limit</a:t>
            </a:r>
            <a:endParaRPr sz="1800">
              <a:solidFill>
                <a:schemeClr val="dk1"/>
              </a:solidFill>
              <a:latin typeface="Times New Roman"/>
              <a:ea typeface="Times New Roman"/>
              <a:cs typeface="Times New Roman"/>
              <a:sym typeface="Times New Roman"/>
            </a:endParaRPr>
          </a:p>
        </p:txBody>
      </p:sp>
      <p:sp>
        <p:nvSpPr>
          <p:cNvPr id="164" name="Google Shape;164;p33"/>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pic>
        <p:nvPicPr>
          <p:cNvPr id="165" name="Google Shape;165;p33" title="Screenshot 2026-10-15 at 23.11.48.png"/>
          <p:cNvPicPr preferRelativeResize="0"/>
          <p:nvPr/>
        </p:nvPicPr>
        <p:blipFill rotWithShape="1">
          <a:blip r:embed="rId3">
            <a:alphaModFix/>
          </a:blip>
          <a:srcRect b="0" l="-2038" r="-5224" t="0"/>
          <a:stretch/>
        </p:blipFill>
        <p:spPr>
          <a:xfrm>
            <a:off x="-99650" y="403375"/>
            <a:ext cx="5370942" cy="4195600"/>
          </a:xfrm>
          <a:prstGeom prst="rect">
            <a:avLst/>
          </a:prstGeom>
          <a:noFill/>
          <a:ln>
            <a:noFill/>
          </a:ln>
        </p:spPr>
      </p:pic>
      <p:sp>
        <p:nvSpPr>
          <p:cNvPr id="166" name="Google Shape;166;p33"/>
          <p:cNvSpPr txBox="1"/>
          <p:nvPr/>
        </p:nvSpPr>
        <p:spPr>
          <a:xfrm>
            <a:off x="4777308" y="789475"/>
            <a:ext cx="4666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zh-CN" sz="1500">
                <a:latin typeface="Times New Roman"/>
                <a:ea typeface="Times New Roman"/>
                <a:cs typeface="Times New Roman"/>
                <a:sym typeface="Times New Roman"/>
              </a:rPr>
              <a:t>Physics-based Learning for Imaging Planets (FLIP)</a:t>
            </a:r>
            <a:r>
              <a:rPr lang="zh-CN" sz="1500">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CN" sz="1500">
                <a:latin typeface="Times New Roman"/>
                <a:ea typeface="Times New Roman"/>
                <a:cs typeface="Times New Roman"/>
                <a:sym typeface="Times New Roman"/>
              </a:rPr>
              <a:t>F</a:t>
            </a:r>
            <a:r>
              <a:rPr lang="zh-CN" sz="1500">
                <a:latin typeface="Times New Roman"/>
                <a:ea typeface="Times New Roman"/>
                <a:cs typeface="Times New Roman"/>
                <a:sym typeface="Times New Roman"/>
              </a:rPr>
              <a:t>rom Simulated Imaging to Real JWST Observations</a:t>
            </a:r>
            <a:endParaRPr sz="1500">
              <a:latin typeface="Times New Roman"/>
              <a:ea typeface="Times New Roman"/>
              <a:cs typeface="Times New Roman"/>
              <a:sym typeface="Times New Roman"/>
            </a:endParaRPr>
          </a:p>
        </p:txBody>
      </p:sp>
      <p:sp>
        <p:nvSpPr>
          <p:cNvPr id="167" name="Google Shape;167;p33"/>
          <p:cNvSpPr txBox="1"/>
          <p:nvPr/>
        </p:nvSpPr>
        <p:spPr>
          <a:xfrm>
            <a:off x="5109500" y="1546675"/>
            <a:ext cx="39513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500">
                <a:solidFill>
                  <a:schemeClr val="dk1"/>
                </a:solidFill>
                <a:latin typeface="Times New Roman"/>
                <a:ea typeface="Times New Roman"/>
                <a:cs typeface="Times New Roman"/>
                <a:sym typeface="Times New Roman"/>
              </a:rPr>
              <a:t>- </a:t>
            </a:r>
            <a:r>
              <a:rPr b="1" lang="zh-CN" sz="1500">
                <a:solidFill>
                  <a:schemeClr val="dk1"/>
                </a:solidFill>
                <a:latin typeface="Times New Roman"/>
                <a:ea typeface="Times New Roman"/>
                <a:cs typeface="Times New Roman"/>
                <a:sym typeface="Times New Roman"/>
              </a:rPr>
              <a:t>Goal:</a:t>
            </a:r>
            <a:r>
              <a:rPr lang="zh-CN" sz="1500">
                <a:solidFill>
                  <a:schemeClr val="dk1"/>
                </a:solidFill>
                <a:latin typeface="Times New Roman"/>
                <a:ea typeface="Times New Roman"/>
                <a:cs typeface="Times New Roman"/>
                <a:sym typeface="Times New Roman"/>
              </a:rPr>
              <a:t> Reveal faint exoplanets by accurately modeling and subtracting starlight.</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zh-CN" sz="1500">
                <a:solidFill>
                  <a:schemeClr val="dk1"/>
                </a:solidFill>
                <a:latin typeface="Times New Roman"/>
                <a:ea typeface="Times New Roman"/>
                <a:cs typeface="Times New Roman"/>
                <a:sym typeface="Times New Roman"/>
              </a:rPr>
              <a:t>- </a:t>
            </a:r>
            <a:r>
              <a:rPr b="1" lang="zh-CN" sz="1500">
                <a:solidFill>
                  <a:schemeClr val="dk1"/>
                </a:solidFill>
                <a:latin typeface="Times New Roman"/>
                <a:ea typeface="Times New Roman"/>
                <a:cs typeface="Times New Roman"/>
                <a:sym typeface="Times New Roman"/>
              </a:rPr>
              <a:t>Challenge:</a:t>
            </a:r>
            <a:r>
              <a:rPr lang="zh-CN" sz="1500">
                <a:solidFill>
                  <a:schemeClr val="dk1"/>
                </a:solidFill>
                <a:latin typeface="Times New Roman"/>
                <a:ea typeface="Times New Roman"/>
                <a:cs typeface="Times New Roman"/>
                <a:sym typeface="Times New Roman"/>
              </a:rPr>
              <a:t> Real observations differ from nominal optical models and reference images.</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zh-CN" sz="1500">
                <a:solidFill>
                  <a:schemeClr val="dk1"/>
                </a:solidFill>
                <a:latin typeface="Times New Roman"/>
                <a:ea typeface="Times New Roman"/>
                <a:cs typeface="Times New Roman"/>
                <a:sym typeface="Times New Roman"/>
              </a:rPr>
              <a:t>- </a:t>
            </a:r>
            <a:r>
              <a:rPr b="1" lang="zh-CN" sz="1500">
                <a:solidFill>
                  <a:schemeClr val="dk1"/>
                </a:solidFill>
                <a:latin typeface="Times New Roman"/>
                <a:ea typeface="Times New Roman"/>
                <a:cs typeface="Times New Roman"/>
                <a:sym typeface="Times New Roman"/>
              </a:rPr>
              <a:t>Approach:</a:t>
            </a:r>
            <a:r>
              <a:rPr lang="zh-CN" sz="1500">
                <a:solidFill>
                  <a:schemeClr val="dk1"/>
                </a:solidFill>
                <a:latin typeface="Times New Roman"/>
                <a:ea typeface="Times New Roman"/>
                <a:cs typeface="Times New Roman"/>
                <a:sym typeface="Times New Roman"/>
              </a:rPr>
              <a:t> Combine differentiable physical modeling with multi-stage optimization.</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zh-CN" sz="1500">
                <a:solidFill>
                  <a:schemeClr val="dk1"/>
                </a:solidFill>
                <a:latin typeface="Times New Roman"/>
                <a:ea typeface="Times New Roman"/>
                <a:cs typeface="Times New Roman"/>
                <a:sym typeface="Times New Roman"/>
              </a:rPr>
              <a:t>- </a:t>
            </a:r>
            <a:r>
              <a:rPr b="1" lang="zh-CN" sz="1500">
                <a:solidFill>
                  <a:schemeClr val="dk1"/>
                </a:solidFill>
                <a:latin typeface="Times New Roman"/>
                <a:ea typeface="Times New Roman"/>
                <a:cs typeface="Times New Roman"/>
                <a:sym typeface="Times New Roman"/>
              </a:rPr>
              <a:t>Outcome:</a:t>
            </a:r>
            <a:r>
              <a:rPr lang="zh-CN" sz="1500">
                <a:solidFill>
                  <a:schemeClr val="dk1"/>
                </a:solidFill>
                <a:latin typeface="Times New Roman"/>
                <a:ea typeface="Times New Roman"/>
                <a:cs typeface="Times New Roman"/>
                <a:sym typeface="Times New Roman"/>
              </a:rPr>
              <a:t> Improved detection sensitivity on real JWST/NIRCam observations.</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4" title="Screenshot 2026-10-15 at 15.25.51.png"/>
          <p:cNvPicPr preferRelativeResize="0"/>
          <p:nvPr/>
        </p:nvPicPr>
        <p:blipFill>
          <a:blip r:embed="rId3">
            <a:alphaModFix/>
          </a:blip>
          <a:stretch>
            <a:fillRect/>
          </a:stretch>
        </p:blipFill>
        <p:spPr>
          <a:xfrm>
            <a:off x="382387" y="865627"/>
            <a:ext cx="8379225" cy="3940225"/>
          </a:xfrm>
          <a:prstGeom prst="rect">
            <a:avLst/>
          </a:prstGeom>
          <a:noFill/>
          <a:ln>
            <a:noFill/>
          </a:ln>
        </p:spPr>
      </p:pic>
      <p:sp>
        <p:nvSpPr>
          <p:cNvPr id="173" name="Google Shape;173;p34"/>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174" name="Google Shape;174;p34"/>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sp>
        <p:nvSpPr>
          <p:cNvPr id="175" name="Google Shape;175;p34"/>
          <p:cNvSpPr txBox="1"/>
          <p:nvPr/>
        </p:nvSpPr>
        <p:spPr>
          <a:xfrm>
            <a:off x="382375" y="446400"/>
            <a:ext cx="4888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600">
                <a:solidFill>
                  <a:schemeClr val="dk1"/>
                </a:solidFill>
                <a:latin typeface="Times New Roman"/>
                <a:ea typeface="Times New Roman"/>
                <a:cs typeface="Times New Roman"/>
                <a:sym typeface="Times New Roman"/>
              </a:rPr>
              <a:t>Question: W</a:t>
            </a:r>
            <a:r>
              <a:rPr lang="zh-CN" sz="1600">
                <a:solidFill>
                  <a:schemeClr val="dk1"/>
                </a:solidFill>
                <a:latin typeface="Times New Roman"/>
                <a:ea typeface="Times New Roman"/>
                <a:cs typeface="Times New Roman"/>
                <a:sym typeface="Times New Roman"/>
              </a:rPr>
              <a:t>hat does FLIP actually optimize? Why?</a:t>
            </a:r>
            <a:endParaRPr sz="1900"/>
          </a:p>
        </p:txBody>
      </p:sp>
      <p:sp>
        <p:nvSpPr>
          <p:cNvPr id="176" name="Google Shape;176;p34"/>
          <p:cNvSpPr txBox="1"/>
          <p:nvPr/>
        </p:nvSpPr>
        <p:spPr>
          <a:xfrm>
            <a:off x="263975" y="4530375"/>
            <a:ext cx="2043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500">
                <a:solidFill>
                  <a:schemeClr val="dk1"/>
                </a:solidFill>
                <a:latin typeface="Times New Roman"/>
                <a:ea typeface="Times New Roman"/>
                <a:cs typeface="Times New Roman"/>
                <a:sym typeface="Times New Roman"/>
              </a:rPr>
              <a:t>O</a:t>
            </a:r>
            <a:r>
              <a:rPr lang="zh-CN" sz="1500">
                <a:solidFill>
                  <a:schemeClr val="dk1"/>
                </a:solidFill>
                <a:latin typeface="Times New Roman"/>
                <a:ea typeface="Times New Roman"/>
                <a:cs typeface="Times New Roman"/>
                <a:sym typeface="Times New Roman"/>
              </a:rPr>
              <a:t>ptical </a:t>
            </a:r>
            <a:r>
              <a:rPr lang="zh-CN" sz="1500">
                <a:solidFill>
                  <a:schemeClr val="dk1"/>
                </a:solidFill>
                <a:latin typeface="Times New Roman"/>
                <a:ea typeface="Times New Roman"/>
                <a:cs typeface="Times New Roman"/>
                <a:sym typeface="Times New Roman"/>
              </a:rPr>
              <a:t>P</a:t>
            </a:r>
            <a:r>
              <a:rPr lang="zh-CN" sz="1500">
                <a:solidFill>
                  <a:schemeClr val="dk1"/>
                </a:solidFill>
                <a:latin typeface="Times New Roman"/>
                <a:ea typeface="Times New Roman"/>
                <a:cs typeface="Times New Roman"/>
                <a:sym typeface="Times New Roman"/>
              </a:rPr>
              <a:t>ath </a:t>
            </a:r>
            <a:r>
              <a:rPr lang="zh-CN" sz="1500">
                <a:solidFill>
                  <a:schemeClr val="dk1"/>
                </a:solidFill>
                <a:latin typeface="Times New Roman"/>
                <a:ea typeface="Times New Roman"/>
                <a:cs typeface="Times New Roman"/>
                <a:sym typeface="Times New Roman"/>
              </a:rPr>
              <a:t>D</a:t>
            </a:r>
            <a:r>
              <a:rPr lang="zh-CN" sz="1500">
                <a:solidFill>
                  <a:schemeClr val="dk1"/>
                </a:solidFill>
                <a:latin typeface="Times New Roman"/>
                <a:ea typeface="Times New Roman"/>
                <a:cs typeface="Times New Roman"/>
                <a:sym typeface="Times New Roman"/>
              </a:rPr>
              <a:t>ifference</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182" name="Google Shape;182;p35"/>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pic>
        <p:nvPicPr>
          <p:cNvPr id="183" name="Google Shape;183;p35" title="Screenshot 2026-10-15 at 23.13.35.png"/>
          <p:cNvPicPr preferRelativeResize="0"/>
          <p:nvPr/>
        </p:nvPicPr>
        <p:blipFill>
          <a:blip r:embed="rId3">
            <a:alphaModFix/>
          </a:blip>
          <a:stretch>
            <a:fillRect/>
          </a:stretch>
        </p:blipFill>
        <p:spPr>
          <a:xfrm>
            <a:off x="3622075" y="1055875"/>
            <a:ext cx="5428252" cy="3255539"/>
          </a:xfrm>
          <a:prstGeom prst="rect">
            <a:avLst/>
          </a:prstGeom>
          <a:noFill/>
          <a:ln>
            <a:noFill/>
          </a:ln>
        </p:spPr>
      </p:pic>
      <p:sp>
        <p:nvSpPr>
          <p:cNvPr id="184" name="Google Shape;184;p35"/>
          <p:cNvSpPr txBox="1"/>
          <p:nvPr/>
        </p:nvSpPr>
        <p:spPr>
          <a:xfrm>
            <a:off x="85150" y="1178094"/>
            <a:ext cx="4053600" cy="34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zh-CN">
                <a:solidFill>
                  <a:schemeClr val="dk1"/>
                </a:solidFill>
                <a:latin typeface="Times New Roman"/>
                <a:ea typeface="Times New Roman"/>
                <a:cs typeface="Times New Roman"/>
                <a:sym typeface="Times New Roman"/>
              </a:rPr>
              <a:t>Stage 1: Reference-Star Calibration</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zh-CN">
                <a:solidFill>
                  <a:srgbClr val="188038"/>
                </a:solidFill>
                <a:latin typeface="Times New Roman"/>
                <a:ea typeface="Times New Roman"/>
                <a:cs typeface="Times New Roman"/>
                <a:sym typeface="Times New Roman"/>
              </a:rPr>
              <a:t>Fit stellar position &amp; flux</a:t>
            </a:r>
            <a:br>
              <a:rPr lang="zh-CN">
                <a:solidFill>
                  <a:srgbClr val="188038"/>
                </a:solidFill>
                <a:latin typeface="Times New Roman"/>
                <a:ea typeface="Times New Roman"/>
                <a:cs typeface="Times New Roman"/>
                <a:sym typeface="Times New Roman"/>
              </a:rPr>
            </a:br>
            <a:r>
              <a:rPr lang="zh-CN">
                <a:solidFill>
                  <a:schemeClr val="dk1"/>
                </a:solidFill>
                <a:latin typeface="Times New Roman"/>
                <a:ea typeface="Times New Roman"/>
                <a:cs typeface="Times New Roman"/>
                <a:sym typeface="Times New Roman"/>
              </a:rPr>
              <a:t>↓</a:t>
            </a:r>
            <a:br>
              <a:rPr lang="zh-CN">
                <a:solidFill>
                  <a:schemeClr val="dk1"/>
                </a:solidFill>
                <a:latin typeface="Times New Roman"/>
                <a:ea typeface="Times New Roman"/>
                <a:cs typeface="Times New Roman"/>
                <a:sym typeface="Times New Roman"/>
              </a:rPr>
            </a:br>
            <a:r>
              <a:rPr lang="zh-CN">
                <a:solidFill>
                  <a:srgbClr val="188038"/>
                </a:solidFill>
                <a:latin typeface="Times New Roman"/>
                <a:ea typeface="Times New Roman"/>
                <a:cs typeface="Times New Roman"/>
                <a:sym typeface="Times New Roman"/>
              </a:rPr>
              <a:t>Optimize pre- and post-mask OPDs</a:t>
            </a:r>
            <a:br>
              <a:rPr lang="zh-CN">
                <a:solidFill>
                  <a:srgbClr val="188038"/>
                </a:solidFill>
                <a:latin typeface="Times New Roman"/>
                <a:ea typeface="Times New Roman"/>
                <a:cs typeface="Times New Roman"/>
                <a:sym typeface="Times New Roman"/>
              </a:rPr>
            </a:br>
            <a:r>
              <a:rPr lang="zh-CN">
                <a:solidFill>
                  <a:schemeClr val="dk1"/>
                </a:solidFill>
                <a:latin typeface="Times New Roman"/>
                <a:ea typeface="Times New Roman"/>
                <a:cs typeface="Times New Roman"/>
                <a:sym typeface="Times New Roman"/>
              </a:rPr>
              <a:t>↓</a:t>
            </a:r>
            <a:br>
              <a:rPr lang="zh-CN">
                <a:solidFill>
                  <a:schemeClr val="dk1"/>
                </a:solidFill>
                <a:latin typeface="Times New Roman"/>
                <a:ea typeface="Times New Roman"/>
                <a:cs typeface="Times New Roman"/>
                <a:sym typeface="Times New Roman"/>
              </a:rPr>
            </a:br>
            <a:r>
              <a:rPr lang="zh-CN">
                <a:solidFill>
                  <a:srgbClr val="188038"/>
                </a:solidFill>
                <a:latin typeface="Times New Roman"/>
                <a:ea typeface="Times New Roman"/>
                <a:cs typeface="Times New Roman"/>
                <a:sym typeface="Times New Roman"/>
              </a:rPr>
              <a:t>Jointly refine both OPDs &amp; pixel responses</a:t>
            </a:r>
            <a:endParaRPr>
              <a:solidFill>
                <a:srgbClr val="188038"/>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zh-CN">
                <a:solidFill>
                  <a:schemeClr val="dk1"/>
                </a:solidFill>
                <a:latin typeface="Times New Roman"/>
                <a:ea typeface="Times New Roman"/>
                <a:cs typeface="Times New Roman"/>
                <a:sym typeface="Times New Roman"/>
              </a:rPr>
              <a:t>↓ Transfer the calibrated model</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zh-CN">
                <a:solidFill>
                  <a:schemeClr val="dk1"/>
                </a:solidFill>
                <a:latin typeface="Times New Roman"/>
                <a:ea typeface="Times New Roman"/>
                <a:cs typeface="Times New Roman"/>
                <a:sym typeface="Times New Roman"/>
              </a:rPr>
              <a:t>Stage 2: Science-Target Adaptation</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zh-CN">
                <a:solidFill>
                  <a:srgbClr val="188038"/>
                </a:solidFill>
                <a:latin typeface="Times New Roman"/>
                <a:ea typeface="Times New Roman"/>
                <a:cs typeface="Times New Roman"/>
                <a:sym typeface="Times New Roman"/>
              </a:rPr>
              <a:t>Fit stellar position &amp; flux</a:t>
            </a:r>
            <a:br>
              <a:rPr lang="zh-CN">
                <a:solidFill>
                  <a:srgbClr val="188038"/>
                </a:solidFill>
                <a:latin typeface="Times New Roman"/>
                <a:ea typeface="Times New Roman"/>
                <a:cs typeface="Times New Roman"/>
                <a:sym typeface="Times New Roman"/>
              </a:rPr>
            </a:br>
            <a:r>
              <a:rPr lang="zh-CN">
                <a:solidFill>
                  <a:schemeClr val="dk1"/>
                </a:solidFill>
                <a:latin typeface="Times New Roman"/>
                <a:ea typeface="Times New Roman"/>
                <a:cs typeface="Times New Roman"/>
                <a:sym typeface="Times New Roman"/>
              </a:rPr>
              <a:t>↓</a:t>
            </a:r>
            <a:br>
              <a:rPr lang="zh-CN">
                <a:solidFill>
                  <a:schemeClr val="dk1"/>
                </a:solidFill>
                <a:latin typeface="Times New Roman"/>
                <a:ea typeface="Times New Roman"/>
                <a:cs typeface="Times New Roman"/>
                <a:sym typeface="Times New Roman"/>
              </a:rPr>
            </a:br>
            <a:r>
              <a:rPr lang="zh-CN">
                <a:solidFill>
                  <a:srgbClr val="188038"/>
                </a:solidFill>
                <a:latin typeface="Times New Roman"/>
                <a:ea typeface="Times New Roman"/>
                <a:cs typeface="Times New Roman"/>
                <a:sym typeface="Times New Roman"/>
              </a:rPr>
              <a:t>Fine-tune post-mask OPD with a lower learning rate</a:t>
            </a:r>
            <a:endParaRPr>
              <a:solidFill>
                <a:srgbClr val="188038"/>
              </a:solidFill>
              <a:latin typeface="Times New Roman"/>
              <a:ea typeface="Times New Roman"/>
              <a:cs typeface="Times New Roman"/>
              <a:sym typeface="Times New Roman"/>
            </a:endParaRPr>
          </a:p>
        </p:txBody>
      </p:sp>
      <p:sp>
        <p:nvSpPr>
          <p:cNvPr id="185" name="Google Shape;185;p35"/>
          <p:cNvSpPr txBox="1"/>
          <p:nvPr/>
        </p:nvSpPr>
        <p:spPr>
          <a:xfrm>
            <a:off x="85150" y="378775"/>
            <a:ext cx="5577900" cy="67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500"/>
              </a:spcBef>
              <a:spcAft>
                <a:spcPts val="500"/>
              </a:spcAft>
              <a:buNone/>
            </a:pPr>
            <a:r>
              <a:rPr lang="zh-CN" sz="1600">
                <a:solidFill>
                  <a:schemeClr val="dk1"/>
                </a:solidFill>
                <a:latin typeface="Times New Roman"/>
                <a:ea typeface="Times New Roman"/>
                <a:cs typeface="Times New Roman"/>
                <a:sym typeface="Times New Roman"/>
              </a:rPr>
              <a:t>Question: Greater model flexibility increases the risk of fitting and subtracting planet signals. How to deal with this? </a:t>
            </a:r>
            <a:endParaRPr sz="1600">
              <a:solidFill>
                <a:schemeClr val="dk1"/>
              </a:solidFill>
              <a:latin typeface="Times New Roman"/>
              <a:ea typeface="Times New Roman"/>
              <a:cs typeface="Times New Roman"/>
              <a:sym typeface="Times New Roman"/>
            </a:endParaRPr>
          </a:p>
        </p:txBody>
      </p:sp>
      <p:sp>
        <p:nvSpPr>
          <p:cNvPr id="186" name="Google Shape;186;p35"/>
          <p:cNvSpPr txBox="1"/>
          <p:nvPr/>
        </p:nvSpPr>
        <p:spPr>
          <a:xfrm>
            <a:off x="5833260" y="5172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solidFill>
                  <a:schemeClr val="dk1"/>
                </a:solidFill>
                <a:latin typeface="Times New Roman"/>
                <a:ea typeface="Times New Roman"/>
                <a:cs typeface="Times New Roman"/>
                <a:sym typeface="Times New Roman"/>
              </a:rPr>
              <a:t>T</a:t>
            </a:r>
            <a:r>
              <a:rPr b="1" lang="zh-CN" sz="1600">
                <a:solidFill>
                  <a:schemeClr val="dk1"/>
                </a:solidFill>
                <a:latin typeface="Times New Roman"/>
                <a:ea typeface="Times New Roman"/>
                <a:cs typeface="Times New Roman"/>
                <a:sym typeface="Times New Roman"/>
              </a:rPr>
              <a:t>wo optimization stages</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192" name="Google Shape;192;p36"/>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pic>
        <p:nvPicPr>
          <p:cNvPr id="193" name="Google Shape;193;p36"/>
          <p:cNvPicPr preferRelativeResize="0"/>
          <p:nvPr/>
        </p:nvPicPr>
        <p:blipFill>
          <a:blip r:embed="rId3">
            <a:alphaModFix/>
          </a:blip>
          <a:stretch>
            <a:fillRect/>
          </a:stretch>
        </p:blipFill>
        <p:spPr>
          <a:xfrm>
            <a:off x="373825" y="550150"/>
            <a:ext cx="5150802" cy="4380450"/>
          </a:xfrm>
          <a:prstGeom prst="rect">
            <a:avLst/>
          </a:prstGeom>
          <a:noFill/>
          <a:ln>
            <a:noFill/>
          </a:ln>
        </p:spPr>
      </p:pic>
      <p:sp>
        <p:nvSpPr>
          <p:cNvPr id="194" name="Google Shape;194;p36"/>
          <p:cNvSpPr txBox="1"/>
          <p:nvPr/>
        </p:nvSpPr>
        <p:spPr>
          <a:xfrm>
            <a:off x="5271300" y="2571750"/>
            <a:ext cx="38661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Times New Roman"/>
              <a:buChar char="-"/>
            </a:pPr>
            <a:r>
              <a:rPr lang="zh-CN">
                <a:latin typeface="Times New Roman"/>
                <a:ea typeface="Times New Roman"/>
                <a:cs typeface="Times New Roman"/>
                <a:sym typeface="Times New Roman"/>
              </a:rPr>
              <a:t>Inject synthetic planets with known positions and fluxes.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zh-CN">
                <a:latin typeface="Times New Roman"/>
                <a:ea typeface="Times New Roman"/>
                <a:cs typeface="Times New Roman"/>
                <a:sym typeface="Times New Roman"/>
              </a:rPr>
              <a:t>Monitor their recovered SNR during optimization.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zh-CN">
                <a:latin typeface="Times New Roman"/>
                <a:ea typeface="Times New Roman"/>
                <a:cs typeface="Times New Roman"/>
                <a:sym typeface="Times New Roman"/>
              </a:rPr>
              <a:t>Prolonged optimization increases planet signal loss and can reduce SNR.</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zh-CN">
                <a:latin typeface="Times New Roman"/>
                <a:ea typeface="Times New Roman"/>
                <a:cs typeface="Times New Roman"/>
                <a:sym typeface="Times New Roman"/>
              </a:rPr>
              <a:t>Stop near the SNR peak or plateau.</a:t>
            </a:r>
            <a:endParaRPr>
              <a:latin typeface="Times New Roman"/>
              <a:ea typeface="Times New Roman"/>
              <a:cs typeface="Times New Roman"/>
              <a:sym typeface="Times New Roman"/>
            </a:endParaRPr>
          </a:p>
        </p:txBody>
      </p:sp>
      <p:sp>
        <p:nvSpPr>
          <p:cNvPr id="195" name="Google Shape;195;p36"/>
          <p:cNvSpPr txBox="1"/>
          <p:nvPr/>
        </p:nvSpPr>
        <p:spPr>
          <a:xfrm>
            <a:off x="5704350" y="945225"/>
            <a:ext cx="3288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500">
                <a:latin typeface="Times New Roman"/>
                <a:ea typeface="Times New Roman"/>
                <a:cs typeface="Times New Roman"/>
                <a:sym typeface="Times New Roman"/>
              </a:rPr>
              <a:t>Question:</a:t>
            </a:r>
            <a:endParaRPr sz="1500">
              <a:latin typeface="Times New Roman"/>
              <a:ea typeface="Times New Roman"/>
              <a:cs typeface="Times New Roman"/>
              <a:sym typeface="Times New Roman"/>
            </a:endParaRPr>
          </a:p>
          <a:p>
            <a:pPr indent="0" lvl="0" marL="0" rtl="0" algn="l">
              <a:spcBef>
                <a:spcPts val="0"/>
              </a:spcBef>
              <a:spcAft>
                <a:spcPts val="0"/>
              </a:spcAft>
              <a:buNone/>
            </a:pPr>
            <a:r>
              <a:rPr lang="zh-CN" sz="1500">
                <a:latin typeface="Times New Roman"/>
                <a:ea typeface="Times New Roman"/>
                <a:cs typeface="Times New Roman"/>
                <a:sym typeface="Times New Roman"/>
              </a:rPr>
              <a:t>When </a:t>
            </a:r>
            <a:r>
              <a:rPr lang="zh-CN" sz="1500">
                <a:latin typeface="Times New Roman"/>
                <a:ea typeface="Times New Roman"/>
                <a:cs typeface="Times New Roman"/>
                <a:sym typeface="Times New Roman"/>
              </a:rPr>
              <a:t>s</a:t>
            </a:r>
            <a:r>
              <a:rPr lang="zh-CN" sz="1500">
                <a:latin typeface="Times New Roman"/>
                <a:ea typeface="Times New Roman"/>
                <a:cs typeface="Times New Roman"/>
                <a:sym typeface="Times New Roman"/>
              </a:rPr>
              <a:t>hould we stop optimization?</a:t>
            </a:r>
            <a:endParaRPr sz="15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201" name="Google Shape;201;p37"/>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sp>
        <p:nvSpPr>
          <p:cNvPr id="202" name="Google Shape;202;p37"/>
          <p:cNvSpPr txBox="1"/>
          <p:nvPr/>
        </p:nvSpPr>
        <p:spPr>
          <a:xfrm>
            <a:off x="540750" y="446400"/>
            <a:ext cx="418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600">
                <a:latin typeface="Times New Roman"/>
                <a:ea typeface="Times New Roman"/>
                <a:cs typeface="Times New Roman"/>
                <a:sym typeface="Times New Roman"/>
              </a:rPr>
              <a:t>- </a:t>
            </a:r>
            <a:r>
              <a:rPr b="1" lang="zh-CN" sz="1600">
                <a:latin typeface="Times New Roman"/>
                <a:ea typeface="Times New Roman"/>
                <a:cs typeface="Times New Roman"/>
                <a:sym typeface="Times New Roman"/>
              </a:rPr>
              <a:t>Evaluation on Real JWST/NIRCam Data</a:t>
            </a:r>
            <a:endParaRPr b="1" sz="1600">
              <a:latin typeface="Times New Roman"/>
              <a:ea typeface="Times New Roman"/>
              <a:cs typeface="Times New Roman"/>
              <a:sym typeface="Times New Roman"/>
            </a:endParaRPr>
          </a:p>
        </p:txBody>
      </p:sp>
      <p:graphicFrame>
        <p:nvGraphicFramePr>
          <p:cNvPr id="203" name="Google Shape;203;p37"/>
          <p:cNvGraphicFramePr/>
          <p:nvPr/>
        </p:nvGraphicFramePr>
        <p:xfrm>
          <a:off x="587575" y="877500"/>
          <a:ext cx="3000000" cy="3000000"/>
        </p:xfrm>
        <a:graphic>
          <a:graphicData uri="http://schemas.openxmlformats.org/drawingml/2006/table">
            <a:tbl>
              <a:tblPr>
                <a:noFill/>
                <a:tableStyleId>{0E8C2E4F-91F4-4105-A6DA-C825A2FC9E27}</a:tableStyleId>
              </a:tblPr>
              <a:tblGrid>
                <a:gridCol w="1131100"/>
                <a:gridCol w="1656850"/>
                <a:gridCol w="4221725"/>
              </a:tblGrid>
              <a:tr h="200025">
                <a:tc>
                  <a:txBody>
                    <a:bodyPr/>
                    <a:lstStyle/>
                    <a:p>
                      <a:pPr indent="0" lvl="0" marL="0" rtl="0" algn="l">
                        <a:lnSpc>
                          <a:spcPct val="115000"/>
                        </a:lnSpc>
                        <a:spcBef>
                          <a:spcPts val="0"/>
                        </a:spcBef>
                        <a:spcAft>
                          <a:spcPts val="0"/>
                        </a:spcAft>
                        <a:buNone/>
                      </a:pPr>
                      <a:r>
                        <a:rPr b="1" lang="zh-CN" sz="1500">
                          <a:latin typeface="Times New Roman"/>
                          <a:ea typeface="Times New Roman"/>
                          <a:cs typeface="Times New Roman"/>
                          <a:sym typeface="Times New Roman"/>
                        </a:rPr>
                        <a:t>Target</a:t>
                      </a:r>
                      <a:endParaRPr b="1" sz="1500">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b="1" lang="zh-CN" sz="1500">
                          <a:latin typeface="Times New Roman"/>
                          <a:ea typeface="Times New Roman"/>
                          <a:cs typeface="Times New Roman"/>
                          <a:sym typeface="Times New Roman"/>
                        </a:rPr>
                        <a:t>Filter</a:t>
                      </a:r>
                      <a:endParaRPr b="1" sz="1500">
                        <a:latin typeface="Times New Roman"/>
                        <a:ea typeface="Times New Roman"/>
                        <a:cs typeface="Times New Roman"/>
                        <a:sym typeface="Times New Roman"/>
                      </a:endParaRPr>
                    </a:p>
                  </a:txBody>
                  <a:tcPr marT="91425" marB="91425" marR="91425" marL="91425"/>
                </a:tc>
                <a:tc>
                  <a:txBody>
                    <a:bodyPr/>
                    <a:lstStyle/>
                    <a:p>
                      <a:pPr indent="0" lvl="0" marL="0" rtl="0" algn="l">
                        <a:lnSpc>
                          <a:spcPct val="115000"/>
                        </a:lnSpc>
                        <a:spcBef>
                          <a:spcPts val="0"/>
                        </a:spcBef>
                        <a:spcAft>
                          <a:spcPts val="0"/>
                        </a:spcAft>
                        <a:buNone/>
                      </a:pPr>
                      <a:r>
                        <a:rPr b="1" lang="zh-CN" sz="1500">
                          <a:latin typeface="Times New Roman"/>
                          <a:ea typeface="Times New Roman"/>
                          <a:cs typeface="Times New Roman"/>
                          <a:sym typeface="Times New Roman"/>
                        </a:rPr>
                        <a:t>Evaluation</a:t>
                      </a:r>
                      <a:endParaRPr b="1" sz="1500">
                        <a:latin typeface="Times New Roman"/>
                        <a:ea typeface="Times New Roman"/>
                        <a:cs typeface="Times New Roman"/>
                        <a:sym typeface="Times New Roman"/>
                      </a:endParaRPr>
                    </a:p>
                  </a:txBody>
                  <a:tcPr marT="91425" marB="91425" marR="91425" marL="91425"/>
                </a:tc>
              </a:tr>
              <a:tr h="200025">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HIP 65426</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F444W</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Known planet recovery</a:t>
                      </a:r>
                      <a:endParaRPr>
                        <a:latin typeface="Times New Roman"/>
                        <a:ea typeface="Times New Roman"/>
                        <a:cs typeface="Times New Roman"/>
                        <a:sym typeface="Times New Roman"/>
                      </a:endParaRPr>
                    </a:p>
                  </a:txBody>
                  <a:tcPr marT="91425" marB="91425" marR="91425" marL="91425"/>
                </a:tc>
              </a:tr>
              <a:tr h="200025">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51 Eridani</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F410M, F430M</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Planet recovery in two wavelength bands</a:t>
                      </a:r>
                      <a:endParaRPr>
                        <a:latin typeface="Times New Roman"/>
                        <a:ea typeface="Times New Roman"/>
                        <a:cs typeface="Times New Roman"/>
                        <a:sym typeface="Times New Roman"/>
                      </a:endParaRPr>
                    </a:p>
                  </a:txBody>
                  <a:tcPr marT="91425" marB="91425" marR="91425" marL="91425"/>
                </a:tc>
              </a:tr>
              <a:tr h="200025">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TYC 5899</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F444W</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zh-CN">
                          <a:latin typeface="Times New Roman"/>
                          <a:ea typeface="Times New Roman"/>
                          <a:cs typeface="Times New Roman"/>
                          <a:sym typeface="Times New Roman"/>
                        </a:rPr>
                        <a:t>Synthetic planet injection and recovery</a:t>
                      </a:r>
                      <a:endParaRPr>
                        <a:latin typeface="Times New Roman"/>
                        <a:ea typeface="Times New Roman"/>
                        <a:cs typeface="Times New Roman"/>
                        <a:sym typeface="Times New Roman"/>
                      </a:endParaRPr>
                    </a:p>
                  </a:txBody>
                  <a:tcPr marT="91425" marB="91425" marR="91425" marL="91425"/>
                </a:tc>
              </a:tr>
            </a:tbl>
          </a:graphicData>
        </a:graphic>
      </p:graphicFrame>
      <p:sp>
        <p:nvSpPr>
          <p:cNvPr id="204" name="Google Shape;204;p37"/>
          <p:cNvSpPr txBox="1"/>
          <p:nvPr/>
        </p:nvSpPr>
        <p:spPr>
          <a:xfrm>
            <a:off x="587575" y="3082698"/>
            <a:ext cx="6369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zh-CN" sz="1600">
                <a:solidFill>
                  <a:schemeClr val="dk1"/>
                </a:solidFill>
                <a:latin typeface="Times New Roman"/>
                <a:ea typeface="Times New Roman"/>
                <a:cs typeface="Times New Roman"/>
                <a:sym typeface="Times New Roman"/>
              </a:rPr>
              <a:t>- </a:t>
            </a:r>
            <a:r>
              <a:rPr b="1" lang="zh-CN" sz="1600">
                <a:solidFill>
                  <a:schemeClr val="dk1"/>
                </a:solidFill>
                <a:latin typeface="Times New Roman"/>
                <a:ea typeface="Times New Roman"/>
                <a:cs typeface="Times New Roman"/>
                <a:sym typeface="Times New Roman"/>
              </a:rPr>
              <a:t>Baseline:</a:t>
            </a:r>
            <a:r>
              <a:rPr lang="zh-CN" sz="1600">
                <a:solidFill>
                  <a:schemeClr val="dk1"/>
                </a:solidFill>
                <a:latin typeface="Times New Roman"/>
                <a:ea typeface="Times New Roman"/>
                <a:cs typeface="Times New Roman"/>
                <a:sym typeface="Times New Roman"/>
              </a:rPr>
              <a:t> KLIP with reference and angular differential imaging.</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zh-CN" sz="1600">
                <a:solidFill>
                  <a:schemeClr val="dk1"/>
                </a:solidFill>
                <a:latin typeface="Times New Roman"/>
                <a:ea typeface="Times New Roman"/>
                <a:cs typeface="Times New Roman"/>
                <a:sym typeface="Times New Roman"/>
              </a:rPr>
              <a:t>- </a:t>
            </a:r>
            <a:r>
              <a:rPr b="1" lang="zh-CN" sz="1600">
                <a:solidFill>
                  <a:schemeClr val="dk1"/>
                </a:solidFill>
                <a:latin typeface="Times New Roman"/>
                <a:ea typeface="Times New Roman"/>
                <a:cs typeface="Times New Roman"/>
                <a:sym typeface="Times New Roman"/>
              </a:rPr>
              <a:t>Metrics:</a:t>
            </a:r>
            <a:r>
              <a:rPr lang="zh-CN" sz="1600">
                <a:solidFill>
                  <a:schemeClr val="dk1"/>
                </a:solidFill>
                <a:latin typeface="Times New Roman"/>
                <a:ea typeface="Times New Roman"/>
                <a:cs typeface="Times New Roman"/>
                <a:sym typeface="Times New Roman"/>
              </a:rPr>
              <a:t> Planet SNR and detection contrast curves.</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zh-CN" sz="1600">
                <a:solidFill>
                  <a:schemeClr val="dk1"/>
                </a:solidFill>
                <a:latin typeface="Times New Roman"/>
                <a:ea typeface="Times New Roman"/>
                <a:cs typeface="Times New Roman"/>
                <a:sym typeface="Times New Roman"/>
              </a:rPr>
              <a:t>- </a:t>
            </a:r>
            <a:r>
              <a:rPr b="1" lang="zh-CN" sz="1600">
                <a:solidFill>
                  <a:schemeClr val="dk1"/>
                </a:solidFill>
                <a:latin typeface="Times New Roman"/>
                <a:ea typeface="Times New Roman"/>
                <a:cs typeface="Times New Roman"/>
                <a:sym typeface="Times New Roman"/>
              </a:rPr>
              <a:t>Corrections:</a:t>
            </a:r>
            <a:r>
              <a:rPr lang="zh-CN" sz="1600">
                <a:solidFill>
                  <a:schemeClr val="dk1"/>
                </a:solidFill>
                <a:latin typeface="Times New Roman"/>
                <a:ea typeface="Times New Roman"/>
                <a:cs typeface="Times New Roman"/>
                <a:sym typeface="Times New Roman"/>
              </a:rPr>
              <a:t> Account for planet signal loss and coronagraph throughput.</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210" name="Google Shape;210;p38"/>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sp>
        <p:nvSpPr>
          <p:cNvPr id="211" name="Google Shape;211;p38"/>
          <p:cNvSpPr txBox="1"/>
          <p:nvPr/>
        </p:nvSpPr>
        <p:spPr>
          <a:xfrm>
            <a:off x="728075" y="4061975"/>
            <a:ext cx="6850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500">
                <a:latin typeface="Times New Roman"/>
                <a:ea typeface="Times New Roman"/>
                <a:cs typeface="Times New Roman"/>
                <a:sym typeface="Times New Roman"/>
              </a:rPr>
              <a:t>Stellar PSF subtraction comparison between FLIP and standard method KLIP</a:t>
            </a:r>
            <a:endParaRPr sz="1500">
              <a:latin typeface="Times New Roman"/>
              <a:ea typeface="Times New Roman"/>
              <a:cs typeface="Times New Roman"/>
              <a:sym typeface="Times New Roman"/>
            </a:endParaRPr>
          </a:p>
        </p:txBody>
      </p:sp>
      <p:pic>
        <p:nvPicPr>
          <p:cNvPr id="212" name="Google Shape;212;p38" title="Screenshot 2026-10-16 at 02.31.50.png"/>
          <p:cNvPicPr preferRelativeResize="0"/>
          <p:nvPr/>
        </p:nvPicPr>
        <p:blipFill>
          <a:blip r:embed="rId3">
            <a:alphaModFix/>
          </a:blip>
          <a:stretch>
            <a:fillRect/>
          </a:stretch>
        </p:blipFill>
        <p:spPr>
          <a:xfrm>
            <a:off x="728075" y="526525"/>
            <a:ext cx="7242810" cy="361209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nvSpPr>
        <p:spPr>
          <a:xfrm>
            <a:off x="0" y="0"/>
            <a:ext cx="557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700">
                <a:solidFill>
                  <a:schemeClr val="dk1"/>
                </a:solidFill>
                <a:latin typeface="Times New Roman"/>
                <a:ea typeface="Times New Roman"/>
                <a:cs typeface="Times New Roman"/>
                <a:sym typeface="Times New Roman"/>
              </a:rPr>
              <a:t>Imaging exoplanets below the telescope stability limit</a:t>
            </a:r>
            <a:endParaRPr sz="1700">
              <a:solidFill>
                <a:schemeClr val="dk1"/>
              </a:solidFill>
              <a:latin typeface="Times New Roman"/>
              <a:ea typeface="Times New Roman"/>
              <a:cs typeface="Times New Roman"/>
              <a:sym typeface="Times New Roman"/>
            </a:endParaRPr>
          </a:p>
        </p:txBody>
      </p:sp>
      <p:sp>
        <p:nvSpPr>
          <p:cNvPr id="218" name="Google Shape;218;p39"/>
          <p:cNvSpPr txBox="1"/>
          <p:nvPr/>
        </p:nvSpPr>
        <p:spPr>
          <a:xfrm>
            <a:off x="0" y="4794394"/>
            <a:ext cx="527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zh-CN">
                <a:latin typeface="Times New Roman"/>
                <a:ea typeface="Times New Roman"/>
                <a:cs typeface="Times New Roman"/>
                <a:sym typeface="Times New Roman"/>
              </a:rPr>
              <a:t>Unpublished manuscript — internal group discussion only.</a:t>
            </a:r>
            <a:endParaRPr i="1">
              <a:latin typeface="Times New Roman"/>
              <a:ea typeface="Times New Roman"/>
              <a:cs typeface="Times New Roman"/>
              <a:sym typeface="Times New Roman"/>
            </a:endParaRPr>
          </a:p>
        </p:txBody>
      </p:sp>
      <p:pic>
        <p:nvPicPr>
          <p:cNvPr id="219" name="Google Shape;219;p39" title="Screenshot 2026-10-16 at 02.34.26.png"/>
          <p:cNvPicPr preferRelativeResize="0"/>
          <p:nvPr/>
        </p:nvPicPr>
        <p:blipFill>
          <a:blip r:embed="rId3">
            <a:alphaModFix/>
          </a:blip>
          <a:stretch>
            <a:fillRect/>
          </a:stretch>
        </p:blipFill>
        <p:spPr>
          <a:xfrm>
            <a:off x="152400" y="920275"/>
            <a:ext cx="8839200" cy="2382982"/>
          </a:xfrm>
          <a:prstGeom prst="rect">
            <a:avLst/>
          </a:prstGeom>
          <a:noFill/>
          <a:ln>
            <a:noFill/>
          </a:ln>
        </p:spPr>
      </p:pic>
      <p:sp>
        <p:nvSpPr>
          <p:cNvPr id="220" name="Google Shape;220;p39"/>
          <p:cNvSpPr txBox="1"/>
          <p:nvPr/>
        </p:nvSpPr>
        <p:spPr>
          <a:xfrm>
            <a:off x="246950" y="3165750"/>
            <a:ext cx="5714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500">
                <a:solidFill>
                  <a:schemeClr val="dk1"/>
                </a:solidFill>
                <a:latin typeface="Times New Roman"/>
                <a:ea typeface="Times New Roman"/>
                <a:cs typeface="Times New Roman"/>
                <a:sym typeface="Times New Roman"/>
              </a:rPr>
              <a:t>Detection sensitivity curves for KLIP and FLIP on each on sky dataset.</a:t>
            </a:r>
            <a:endParaRPr sz="1500">
              <a:solidFill>
                <a:schemeClr val="dk1"/>
              </a:solidFill>
              <a:latin typeface="Times New Roman"/>
              <a:ea typeface="Times New Roman"/>
              <a:cs typeface="Times New Roman"/>
              <a:sym typeface="Times New Roman"/>
            </a:endParaRPr>
          </a:p>
        </p:txBody>
      </p:sp>
      <p:sp>
        <p:nvSpPr>
          <p:cNvPr id="221" name="Google Shape;221;p39"/>
          <p:cNvSpPr txBox="1"/>
          <p:nvPr/>
        </p:nvSpPr>
        <p:spPr>
          <a:xfrm>
            <a:off x="600925" y="3624700"/>
            <a:ext cx="67329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Times New Roman"/>
              <a:buChar char="-"/>
            </a:pPr>
            <a:r>
              <a:rPr lang="zh-CN" sz="1600">
                <a:latin typeface="Times New Roman"/>
                <a:ea typeface="Times New Roman"/>
                <a:cs typeface="Times New Roman"/>
                <a:sym typeface="Times New Roman"/>
              </a:rPr>
              <a:t>Contrast curves show the detection limit at each angular separation.</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zh-CN" sz="1600">
                <a:latin typeface="Times New Roman"/>
                <a:ea typeface="Times New Roman"/>
                <a:cs typeface="Times New Roman"/>
                <a:sym typeface="Times New Roman"/>
              </a:rPr>
              <a:t>FLIP achieves substantial sensitivity gains, especially near the star.</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zh-CN" sz="1600">
                <a:latin typeface="Times New Roman"/>
                <a:ea typeface="Times New Roman"/>
                <a:cs typeface="Times New Roman"/>
                <a:sym typeface="Times New Roman"/>
              </a:rPr>
              <a:t>FLIP can outperform the estimated stability-limited KLIP sensitivity.</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zh-CN" sz="1600">
                <a:latin typeface="Times New Roman"/>
                <a:ea typeface="Times New Roman"/>
                <a:cs typeface="Times New Roman"/>
                <a:sym typeface="Times New Roman"/>
              </a:rPr>
              <a:t>The fundamental noise limit has not yet been reached.</a:t>
            </a:r>
            <a:endParaRPr sz="1600">
              <a:latin typeface="Times New Roman"/>
              <a:ea typeface="Times New Roman"/>
              <a:cs typeface="Times New Roman"/>
              <a:sym typeface="Times New Roman"/>
            </a:endParaRPr>
          </a:p>
        </p:txBody>
      </p:sp>
      <p:sp>
        <p:nvSpPr>
          <p:cNvPr id="222" name="Google Shape;222;p39"/>
          <p:cNvSpPr txBox="1"/>
          <p:nvPr/>
        </p:nvSpPr>
        <p:spPr>
          <a:xfrm>
            <a:off x="374700" y="475588"/>
            <a:ext cx="6863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CN" sz="1500">
                <a:solidFill>
                  <a:schemeClr val="dk1"/>
                </a:solidFill>
                <a:latin typeface="Times New Roman"/>
                <a:ea typeface="Times New Roman"/>
                <a:cs typeface="Times New Roman"/>
                <a:sym typeface="Times New Roman"/>
              </a:rPr>
              <a:t>Question: H</a:t>
            </a:r>
            <a:r>
              <a:rPr lang="zh-CN" sz="1500">
                <a:solidFill>
                  <a:schemeClr val="dk1"/>
                </a:solidFill>
                <a:latin typeface="Times New Roman"/>
                <a:ea typeface="Times New Roman"/>
                <a:cs typeface="Times New Roman"/>
                <a:sym typeface="Times New Roman"/>
              </a:rPr>
              <a:t>ow faint a planet could we detect at each separation from the star?</a:t>
            </a:r>
            <a:endParaRPr sz="15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40"/>
          <p:cNvSpPr/>
          <p:nvPr/>
        </p:nvSpPr>
        <p:spPr>
          <a:xfrm>
            <a:off x="314325" y="323850"/>
            <a:ext cx="8515350" cy="476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zh-CN" sz="2000"/>
              <a:t>CODE: </a:t>
            </a:r>
            <a:r>
              <a:rPr b="0" lang="zh-CN" sz="2000">
                <a:solidFill>
                  <a:srgbClr val="000000"/>
                </a:solidFill>
                <a:latin typeface="Arial"/>
                <a:ea typeface="Arial"/>
                <a:cs typeface="Arial"/>
                <a:sym typeface="Arial"/>
              </a:rPr>
              <a:t>Simulated JWST Experiment</a:t>
            </a:r>
            <a:endParaRPr sz="2000"/>
          </a:p>
        </p:txBody>
      </p:sp>
      <p:sp>
        <p:nvSpPr>
          <p:cNvPr id="229" name="Google Shape;229;p40"/>
          <p:cNvSpPr/>
          <p:nvPr/>
        </p:nvSpPr>
        <p:spPr>
          <a:xfrm>
            <a:off x="513600" y="912500"/>
            <a:ext cx="8515500" cy="333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zh-CN" sz="1500">
                <a:solidFill>
                  <a:srgbClr val="595959"/>
                </a:solidFill>
                <a:latin typeface="Arial"/>
                <a:ea typeface="Arial"/>
                <a:cs typeface="Arial"/>
                <a:sym typeface="Arial"/>
              </a:rPr>
              <a:t>Planet/star contrast 10⁻⁶, one observation, 1,000-iteration setting</a:t>
            </a:r>
            <a:endParaRPr/>
          </a:p>
        </p:txBody>
      </p:sp>
      <p:sp>
        <p:nvSpPr>
          <p:cNvPr id="230" name="Google Shape;230;p40"/>
          <p:cNvSpPr/>
          <p:nvPr/>
        </p:nvSpPr>
        <p:spPr>
          <a:xfrm>
            <a:off x="4842275" y="1358200"/>
            <a:ext cx="44769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zh-CN" sz="1650">
                <a:solidFill>
                  <a:srgbClr val="000000"/>
                </a:solidFill>
                <a:latin typeface="Arial"/>
                <a:ea typeface="Arial"/>
                <a:cs typeface="Arial"/>
                <a:sym typeface="Arial"/>
              </a:rPr>
              <a:t>Image fitting and WFE error</a:t>
            </a:r>
            <a:endParaRPr/>
          </a:p>
        </p:txBody>
      </p:sp>
      <p:sp>
        <p:nvSpPr>
          <p:cNvPr id="231" name="Google Shape;231;p40"/>
          <p:cNvSpPr/>
          <p:nvPr/>
        </p:nvSpPr>
        <p:spPr>
          <a:xfrm>
            <a:off x="513600" y="1371875"/>
            <a:ext cx="17145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zh-CN" sz="1575">
                <a:solidFill>
                  <a:srgbClr val="000000"/>
                </a:solidFill>
                <a:latin typeface="Arial"/>
                <a:ea typeface="Arial"/>
                <a:cs typeface="Arial"/>
                <a:sym typeface="Arial"/>
              </a:rPr>
              <a:t>Initial residual</a:t>
            </a:r>
            <a:endParaRPr/>
          </a:p>
        </p:txBody>
      </p:sp>
      <p:sp>
        <p:nvSpPr>
          <p:cNvPr id="232" name="Google Shape;232;p40"/>
          <p:cNvSpPr/>
          <p:nvPr/>
        </p:nvSpPr>
        <p:spPr>
          <a:xfrm>
            <a:off x="2669675" y="1371875"/>
            <a:ext cx="18573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zh-CN" sz="1575">
                <a:solidFill>
                  <a:srgbClr val="000000"/>
                </a:solidFill>
                <a:latin typeface="Arial"/>
                <a:ea typeface="Arial"/>
                <a:cs typeface="Arial"/>
                <a:sym typeface="Arial"/>
              </a:rPr>
              <a:t>Residual at 1,000</a:t>
            </a:r>
            <a:endParaRPr/>
          </a:p>
        </p:txBody>
      </p:sp>
      <p:pic>
        <p:nvPicPr>
          <p:cNvPr id="233" name="Google Shape;233;p40"/>
          <p:cNvPicPr preferRelativeResize="0"/>
          <p:nvPr/>
        </p:nvPicPr>
        <p:blipFill rotWithShape="1">
          <a:blip r:embed="rId3">
            <a:alphaModFix/>
          </a:blip>
          <a:srcRect b="-5560" l="-1630" r="1630" t="5560"/>
          <a:stretch/>
        </p:blipFill>
        <p:spPr>
          <a:xfrm>
            <a:off x="4288925" y="1646825"/>
            <a:ext cx="4857750" cy="2428875"/>
          </a:xfrm>
          <a:prstGeom prst="rect">
            <a:avLst/>
          </a:prstGeom>
          <a:noFill/>
          <a:ln>
            <a:noFill/>
          </a:ln>
        </p:spPr>
      </p:pic>
      <p:pic>
        <p:nvPicPr>
          <p:cNvPr id="234" name="Google Shape;234;p40"/>
          <p:cNvPicPr preferRelativeResize="0"/>
          <p:nvPr/>
        </p:nvPicPr>
        <p:blipFill rotWithShape="1">
          <a:blip r:embed="rId4">
            <a:alphaModFix/>
          </a:blip>
          <a:srcRect b="0" l="0" r="0" t="0"/>
          <a:stretch/>
        </p:blipFill>
        <p:spPr>
          <a:xfrm>
            <a:off x="513600" y="1739963"/>
            <a:ext cx="1619250" cy="1619250"/>
          </a:xfrm>
          <a:prstGeom prst="rect">
            <a:avLst/>
          </a:prstGeom>
          <a:noFill/>
          <a:ln>
            <a:noFill/>
          </a:ln>
        </p:spPr>
      </p:pic>
      <p:pic>
        <p:nvPicPr>
          <p:cNvPr id="235" name="Google Shape;235;p40"/>
          <p:cNvPicPr preferRelativeResize="0"/>
          <p:nvPr/>
        </p:nvPicPr>
        <p:blipFill rotWithShape="1">
          <a:blip r:embed="rId5">
            <a:alphaModFix/>
          </a:blip>
          <a:srcRect b="0" l="0" r="0" t="0"/>
          <a:stretch/>
        </p:blipFill>
        <p:spPr>
          <a:xfrm>
            <a:off x="2669675" y="1762125"/>
            <a:ext cx="1619250" cy="1619250"/>
          </a:xfrm>
          <a:prstGeom prst="rect">
            <a:avLst/>
          </a:prstGeom>
          <a:noFill/>
          <a:ln>
            <a:noFill/>
          </a:ln>
        </p:spPr>
      </p:pic>
      <p:sp>
        <p:nvSpPr>
          <p:cNvPr id="236" name="Google Shape;236;p40"/>
          <p:cNvSpPr/>
          <p:nvPr/>
        </p:nvSpPr>
        <p:spPr>
          <a:xfrm>
            <a:off x="513600" y="3525900"/>
            <a:ext cx="3714900" cy="29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zh-CN" sz="1425">
                <a:solidFill>
                  <a:srgbClr val="000000"/>
                </a:solidFill>
                <a:latin typeface="Arial"/>
                <a:ea typeface="Arial"/>
                <a:cs typeface="Arial"/>
                <a:sym typeface="Arial"/>
              </a:rPr>
              <a:t>Residual PSNR: −16.11 to 17.73 dB</a:t>
            </a:r>
            <a:endParaRPr/>
          </a:p>
        </p:txBody>
      </p:sp>
      <p:sp>
        <p:nvSpPr>
          <p:cNvPr id="237" name="Google Shape;237;p40"/>
          <p:cNvSpPr/>
          <p:nvPr/>
        </p:nvSpPr>
        <p:spPr>
          <a:xfrm>
            <a:off x="513600" y="3853400"/>
            <a:ext cx="3714900" cy="29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zh-CN" sz="1425">
                <a:solidFill>
                  <a:srgbClr val="000000"/>
                </a:solidFill>
                <a:latin typeface="Arial"/>
                <a:ea typeface="Arial"/>
                <a:cs typeface="Arial"/>
                <a:sym typeface="Arial"/>
              </a:rPr>
              <a:t>Residual SSIM: −0.002 to 0.897</a:t>
            </a:r>
            <a:endParaRPr/>
          </a:p>
        </p:txBody>
      </p:sp>
      <p:sp>
        <p:nvSpPr>
          <p:cNvPr id="238" name="Google Shape;238;p40"/>
          <p:cNvSpPr/>
          <p:nvPr/>
        </p:nvSpPr>
        <p:spPr>
          <a:xfrm>
            <a:off x="803675" y="4389150"/>
            <a:ext cx="8515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zh-CN" sz="1575">
                <a:solidFill>
                  <a:srgbClr val="000000"/>
                </a:solidFill>
                <a:latin typeface="Arial"/>
                <a:ea typeface="Arial"/>
                <a:cs typeface="Arial"/>
                <a:sym typeface="Arial"/>
              </a:rPr>
              <a:t>Image fitting improves, while error relative to the true WFE increases.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CN" sz="2000"/>
              <a:t>Real JWST Experiment: Optimization Progres</a:t>
            </a:r>
            <a:endParaRPr/>
          </a:p>
        </p:txBody>
      </p:sp>
      <p:sp>
        <p:nvSpPr>
          <p:cNvPr id="244" name="Google Shape;24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lang="zh-CN"/>
              <a:t>Stellar-image subtraction and primary-wavefront diagnostics</a:t>
            </a:r>
            <a:endParaRPr/>
          </a:p>
          <a:p>
            <a:pPr indent="0" lvl="0" marL="0" rtl="0" algn="l">
              <a:spcBef>
                <a:spcPts val="1200"/>
              </a:spcBef>
              <a:spcAft>
                <a:spcPts val="1200"/>
              </a:spcAft>
              <a:buNone/>
            </a:pPr>
            <a:r>
              <a:t/>
            </a:r>
            <a:endParaRPr/>
          </a:p>
        </p:txBody>
      </p:sp>
      <p:pic>
        <p:nvPicPr>
          <p:cNvPr id="245" name="Google Shape;245;p41" title="progress.mp4">
            <a:hlinkClick r:id="rId3"/>
          </p:cNvPr>
          <p:cNvPicPr preferRelativeResize="0"/>
          <p:nvPr/>
        </p:nvPicPr>
        <p:blipFill>
          <a:blip r:embed="rId4">
            <a:alphaModFix/>
          </a:blip>
          <a:stretch>
            <a:fillRect/>
          </a:stretch>
        </p:blipFill>
        <p:spPr>
          <a:xfrm>
            <a:off x="498900" y="1815975"/>
            <a:ext cx="3787350" cy="2089425"/>
          </a:xfrm>
          <a:prstGeom prst="rect">
            <a:avLst/>
          </a:prstGeom>
          <a:noFill/>
          <a:ln>
            <a:noFill/>
          </a:ln>
        </p:spPr>
      </p:pic>
      <p:pic>
        <p:nvPicPr>
          <p:cNvPr id="246" name="Google Shape;246;p41" title="opd_progress.mp4">
            <a:hlinkClick r:id="rId5"/>
          </p:cNvPr>
          <p:cNvPicPr preferRelativeResize="0"/>
          <p:nvPr/>
        </p:nvPicPr>
        <p:blipFill>
          <a:blip r:embed="rId6">
            <a:alphaModFix/>
          </a:blip>
          <a:stretch>
            <a:fillRect/>
          </a:stretch>
        </p:blipFill>
        <p:spPr>
          <a:xfrm>
            <a:off x="5000625" y="1831850"/>
            <a:ext cx="3611575" cy="2025925"/>
          </a:xfrm>
          <a:prstGeom prst="rect">
            <a:avLst/>
          </a:prstGeom>
          <a:noFill/>
          <a:ln>
            <a:noFill/>
          </a:ln>
        </p:spPr>
      </p:pic>
      <p:sp>
        <p:nvSpPr>
          <p:cNvPr id="247" name="Google Shape;247;p41"/>
          <p:cNvSpPr txBox="1"/>
          <p:nvPr/>
        </p:nvSpPr>
        <p:spPr>
          <a:xfrm>
            <a:off x="435463" y="3905238"/>
            <a:ext cx="27858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100">
                <a:solidFill>
                  <a:schemeClr val="dk1"/>
                </a:solidFill>
              </a:rPr>
              <a:t>Residual Image During Optimization</a:t>
            </a:r>
            <a:endParaRPr sz="1700">
              <a:solidFill>
                <a:schemeClr val="dk2"/>
              </a:solidFill>
            </a:endParaRPr>
          </a:p>
        </p:txBody>
      </p:sp>
      <p:sp>
        <p:nvSpPr>
          <p:cNvPr id="248" name="Google Shape;248;p41"/>
          <p:cNvSpPr txBox="1"/>
          <p:nvPr/>
        </p:nvSpPr>
        <p:spPr>
          <a:xfrm>
            <a:off x="5000625" y="3841900"/>
            <a:ext cx="3037500" cy="2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sz="1100">
                <a:solidFill>
                  <a:schemeClr val="dk1"/>
                </a:solidFill>
              </a:rPr>
              <a:t>Primary OPD Change Relative to Initialization</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2"/>
          <p:cNvSpPr txBox="1"/>
          <p:nvPr>
            <p:ph type="title"/>
          </p:nvPr>
        </p:nvSpPr>
        <p:spPr>
          <a:xfrm>
            <a:off x="311700" y="2698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CN" sz="3000"/>
              <a:t>Next Step</a:t>
            </a:r>
            <a:endParaRPr sz="3000"/>
          </a:p>
        </p:txBody>
      </p:sp>
      <p:sp>
        <p:nvSpPr>
          <p:cNvPr id="254" name="Google Shape;254;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Deepen the understanding of current model</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zh-CN"/>
              <a:t>Run the reference-star calibration and science-target fitting stages.</a:t>
            </a:r>
            <a:endParaRPr/>
          </a:p>
          <a:p>
            <a:pPr indent="-342900" lvl="0" marL="457200" rtl="0" algn="l">
              <a:spcBef>
                <a:spcPts val="0"/>
              </a:spcBef>
              <a:spcAft>
                <a:spcPts val="0"/>
              </a:spcAft>
              <a:buSzPts val="1800"/>
              <a:buChar char="●"/>
            </a:pPr>
            <a:r>
              <a:rPr lang="zh-CN"/>
              <a:t>Compare stellar subtraction results across stages.</a:t>
            </a:r>
            <a:endParaRPr/>
          </a:p>
          <a:p>
            <a:pPr indent="-342900" lvl="0" marL="457200" rtl="0" algn="l">
              <a:spcBef>
                <a:spcPts val="0"/>
              </a:spcBef>
              <a:spcAft>
                <a:spcPts val="0"/>
              </a:spcAft>
              <a:buSzPts val="1800"/>
              <a:buChar char="●"/>
            </a:pPr>
            <a:r>
              <a:rPr lang="zh-CN"/>
              <a:t>Evaluate the recovered planet signal in the HIP 65426 dataset.</a:t>
            </a:r>
            <a:endParaRPr/>
          </a:p>
          <a:p>
            <a:pPr indent="0" lvl="0" marL="457200" rtl="0" algn="l">
              <a:spcBef>
                <a:spcPts val="0"/>
              </a:spcBef>
              <a:spcAft>
                <a:spcPts val="1200"/>
              </a:spcAft>
              <a:buNone/>
            </a:pPr>
            <a:r>
              <a:t/>
            </a:r>
            <a:endParaRPr/>
          </a:p>
        </p:txBody>
      </p:sp>
      <p:sp>
        <p:nvSpPr>
          <p:cNvPr id="255" name="Google Shape;255;p42"/>
          <p:cNvSpPr txBox="1"/>
          <p:nvPr/>
        </p:nvSpPr>
        <p:spPr>
          <a:xfrm>
            <a:off x="552578" y="2079150"/>
            <a:ext cx="50580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CN" sz="2000">
                <a:solidFill>
                  <a:schemeClr val="dk1"/>
                </a:solidFill>
              </a:rPr>
              <a:t>Reproduce FLIP on Real Observations</a:t>
            </a:r>
            <a:endParaRPr sz="20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idx="1" type="body"/>
          </p:nvPr>
        </p:nvSpPr>
        <p:spPr>
          <a:xfrm>
            <a:off x="2315225" y="1995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zh-CN" sz="5000"/>
              <a:t>THANK YOU</a:t>
            </a:r>
            <a:endParaRPr b="1" sz="5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10/16 Notes</a:t>
            </a:r>
            <a:endParaRPr/>
          </a:p>
        </p:txBody>
      </p:sp>
      <p:sp>
        <p:nvSpPr>
          <p:cNvPr id="266" name="Google Shape;26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calibrate on reference star first, then finetune on science-target</a:t>
            </a:r>
            <a:endParaRPr/>
          </a:p>
          <a:p>
            <a:pPr indent="-342900" lvl="0" marL="457200" rtl="0" algn="l">
              <a:spcBef>
                <a:spcPts val="0"/>
              </a:spcBef>
              <a:spcAft>
                <a:spcPts val="0"/>
              </a:spcAft>
              <a:buSzPts val="1800"/>
              <a:buChar char="●"/>
            </a:pPr>
            <a:r>
              <a:rPr lang="zh-CN"/>
              <a:t>bcs of using real data, FLIP has so many more parameters compared to EDDO</a:t>
            </a:r>
            <a:endParaRPr/>
          </a:p>
          <a:p>
            <a:pPr indent="-342900" lvl="0" marL="457200" rtl="0" algn="l">
              <a:spcBef>
                <a:spcPts val="0"/>
              </a:spcBef>
              <a:spcAft>
                <a:spcPts val="0"/>
              </a:spcAft>
              <a:buSzPts val="1800"/>
              <a:buChar char="●"/>
            </a:pPr>
            <a:r>
              <a:rPr lang="zh-CN"/>
              <a:t>reference star image taken no more than a few </a:t>
            </a:r>
            <a:r>
              <a:rPr lang="zh-CN"/>
              <a:t>hours before the science-target</a:t>
            </a:r>
            <a:endParaRPr/>
          </a:p>
          <a:p>
            <a:pPr indent="-342900" lvl="0" marL="457200" rtl="0" algn="l">
              <a:spcBef>
                <a:spcPts val="0"/>
              </a:spcBef>
              <a:spcAft>
                <a:spcPts val="0"/>
              </a:spcAft>
              <a:buSzPts val="1800"/>
              <a:buChar char="●"/>
            </a:pPr>
            <a:r>
              <a:rPr lang="zh-CN"/>
              <a:t>stage 1 calibration gets model close enough so that we can use a smaller learning rate in stage 2 in order not to kill any possible planets</a:t>
            </a:r>
            <a:endParaRPr/>
          </a:p>
          <a:p>
            <a:pPr indent="-342900" lvl="0" marL="457200" rtl="0" algn="l">
              <a:spcBef>
                <a:spcPts val="0"/>
              </a:spcBef>
              <a:spcAft>
                <a:spcPts val="0"/>
              </a:spcAft>
              <a:buSzPts val="1800"/>
              <a:buChar char="●"/>
            </a:pPr>
            <a:r>
              <a:rPr lang="zh-CN"/>
              <a:t>MIRI will have many more parameters</a:t>
            </a:r>
            <a:endParaRPr/>
          </a:p>
          <a:p>
            <a:pPr indent="-342900" lvl="0" marL="457200" rtl="0" algn="l">
              <a:spcBef>
                <a:spcPts val="0"/>
              </a:spcBef>
              <a:spcAft>
                <a:spcPts val="0"/>
              </a:spcAft>
              <a:buSzPts val="1800"/>
              <a:buChar char="●"/>
            </a:pPr>
            <a:r>
              <a:rPr lang="zh-CN"/>
              <a:t>L1 loss more robust, will not care about small variations and loss from planet signal, L2 loss may completely erase planet signal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10/16 Todos</a:t>
            </a:r>
            <a:endParaRPr/>
          </a:p>
        </p:txBody>
      </p:sp>
      <p:sp>
        <p:nvSpPr>
          <p:cNvPr id="272" name="Google Shape;272;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zh-CN"/>
              <a:t>install and run submission branch of FLIP repo</a:t>
            </a:r>
            <a:endParaRPr/>
          </a:p>
          <a:p>
            <a:pPr indent="-342900" lvl="0" marL="457200" rtl="0" algn="l">
              <a:spcBef>
                <a:spcPts val="0"/>
              </a:spcBef>
              <a:spcAft>
                <a:spcPts val="0"/>
              </a:spcAft>
              <a:buSzPts val="1800"/>
              <a:buChar char="●"/>
            </a:pPr>
            <a:r>
              <a:rPr lang="zh-CN"/>
              <a:t>should output leftmost image in figure 2 of paper (left of slide 19 and slide 22)</a:t>
            </a:r>
            <a:endParaRPr/>
          </a:p>
          <a:p>
            <a:pPr indent="-342900" lvl="0" marL="457200" rtl="0" algn="l">
              <a:spcBef>
                <a:spcPts val="0"/>
              </a:spcBef>
              <a:spcAft>
                <a:spcPts val="0"/>
              </a:spcAft>
              <a:buSzPts val="1800"/>
              <a:buChar char="●"/>
            </a:pPr>
            <a:r>
              <a:rPr lang="zh-CN"/>
              <a:t>find which part in the code is related to NIRCam</a:t>
            </a:r>
            <a:endParaRPr/>
          </a:p>
          <a:p>
            <a:pPr indent="-317500" lvl="1" marL="914400" rtl="0" algn="l">
              <a:spcBef>
                <a:spcPts val="0"/>
              </a:spcBef>
              <a:spcAft>
                <a:spcPts val="0"/>
              </a:spcAft>
              <a:buSzPts val="1400"/>
              <a:buChar char="○"/>
            </a:pPr>
            <a:r>
              <a:rPr lang="zh-CN"/>
              <a:t>don’t need to understand whole code</a:t>
            </a:r>
            <a:endParaRPr/>
          </a:p>
          <a:p>
            <a:pPr indent="-342900" lvl="0" marL="457200" rtl="0" algn="l">
              <a:spcBef>
                <a:spcPts val="0"/>
              </a:spcBef>
              <a:spcAft>
                <a:spcPts val="0"/>
              </a:spcAft>
              <a:buSzPts val="1800"/>
              <a:buChar char="●"/>
            </a:pPr>
            <a:r>
              <a:rPr lang="zh-CN"/>
              <a:t>figure out what we need to do switch out NIRCam for MIRI</a:t>
            </a:r>
            <a:endParaRPr/>
          </a:p>
          <a:p>
            <a:pPr indent="-342900" lvl="0" marL="457200" rtl="0" algn="l">
              <a:spcBef>
                <a:spcPts val="0"/>
              </a:spcBef>
              <a:spcAft>
                <a:spcPts val="0"/>
              </a:spcAft>
              <a:buSzPts val="1800"/>
              <a:buChar char="●"/>
            </a:pPr>
            <a:r>
              <a:rPr lang="zh-CN"/>
              <a:t>(Added) run different configuration for FLIP</a:t>
            </a:r>
            <a:endParaRPr/>
          </a:p>
          <a:p>
            <a:pPr indent="-342900" lvl="0" marL="457200" rtl="0" algn="l">
              <a:spcBef>
                <a:spcPts val="0"/>
              </a:spcBef>
              <a:spcAft>
                <a:spcPts val="0"/>
              </a:spcAft>
              <a:buSzPts val="1800"/>
              <a:buChar char="●"/>
            </a:pPr>
            <a:r>
              <a:rPr lang="zh-CN"/>
              <a:t>STPSF look at OPD for MIRI</a:t>
            </a:r>
            <a:endParaRPr/>
          </a:p>
          <a:p>
            <a:pPr indent="-342900" lvl="0" marL="457200" rtl="0" algn="l">
              <a:spcBef>
                <a:spcPts val="0"/>
              </a:spcBef>
              <a:spcAft>
                <a:spcPts val="0"/>
              </a:spcAft>
              <a:buSzPts val="1800"/>
              <a:buChar char="●"/>
            </a:pPr>
            <a:r>
              <a:rPr lang="zh-CN"/>
              <a:t>look at pictures/3D models of JWST to understand what’s happening in diagram</a:t>
            </a:r>
            <a:endParaRPr/>
          </a:p>
          <a:p>
            <a:pPr indent="-342900" lvl="0" marL="457200" rtl="0" algn="l">
              <a:spcBef>
                <a:spcPts val="0"/>
              </a:spcBef>
              <a:spcAft>
                <a:spcPts val="0"/>
              </a:spcAft>
              <a:buSzPts val="1800"/>
              <a:buChar char="●"/>
            </a:pPr>
            <a:r>
              <a:rPr lang="zh-CN"/>
              <a:t>try to tweak EDDO pipeline, moving the star/planet to other positions and see what happens to results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